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761150" cy="9942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4" roundtripDataSignature="AMtx7mgeKvcRmLQlSqYyWi7U+ThNXFg3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29837" cy="49885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29761" y="0"/>
            <a:ext cx="2929837" cy="49885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3662"/>
            <a:ext cx="2929837" cy="49885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3" name="Google Shape;123;p1: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2: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2" name="Google Shape;132;p2: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7" name="Google Shape;147;p3: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Rajeshwari</a:t>
            </a:r>
            <a:endParaRPr b="0" i="0" sz="1200" u="none" cap="none" strike="noStrike">
              <a:solidFill>
                <a:schemeClr val="dk1"/>
              </a:solidFill>
              <a:latin typeface="Calibri"/>
              <a:ea typeface="Calibri"/>
              <a:cs typeface="Calibri"/>
              <a:sym typeface="Calibri"/>
            </a:endParaRPr>
          </a:p>
        </p:txBody>
      </p:sp>
      <p:sp>
        <p:nvSpPr>
          <p:cNvPr id="156" name="Google Shape;156;p4: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Rajeshwari</a:t>
            </a:r>
            <a:endParaRPr b="0" i="0" sz="1200" u="none" cap="none" strike="noStrike">
              <a:solidFill>
                <a:schemeClr val="dk1"/>
              </a:solidFill>
              <a:latin typeface="Calibri"/>
              <a:ea typeface="Calibri"/>
              <a:cs typeface="Calibri"/>
              <a:sym typeface="Calibri"/>
            </a:endParaRPr>
          </a:p>
        </p:txBody>
      </p:sp>
      <p:sp>
        <p:nvSpPr>
          <p:cNvPr id="167" name="Google Shape;167;p6: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Vaishnavi</a:t>
            </a:r>
            <a:endParaRPr b="0" i="0" sz="1200" u="none" cap="none" strike="noStrike">
              <a:solidFill>
                <a:schemeClr val="dk1"/>
              </a:solidFill>
              <a:latin typeface="Calibri"/>
              <a:ea typeface="Calibri"/>
              <a:cs typeface="Calibri"/>
              <a:sym typeface="Calibri"/>
            </a:endParaRPr>
          </a:p>
        </p:txBody>
      </p:sp>
      <p:sp>
        <p:nvSpPr>
          <p:cNvPr id="174" name="Google Shape;174;p5: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Vaishnavi</a:t>
            </a:r>
            <a:endParaRPr b="0" i="0" sz="1200" u="none" cap="none" strike="noStrike">
              <a:solidFill>
                <a:schemeClr val="dk1"/>
              </a:solidFill>
              <a:latin typeface="Calibri"/>
              <a:ea typeface="Calibri"/>
              <a:cs typeface="Calibri"/>
              <a:sym typeface="Calibri"/>
            </a:endParaRPr>
          </a:p>
        </p:txBody>
      </p:sp>
      <p:sp>
        <p:nvSpPr>
          <p:cNvPr id="181" name="Google Shape;181;p7: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50ca23903e8f00da_2_28:notes"/>
          <p:cNvSpPr txBox="1"/>
          <p:nvPr>
            <p:ph idx="1" type="body"/>
          </p:nvPr>
        </p:nvSpPr>
        <p:spPr>
          <a:xfrm>
            <a:off x="676117" y="4784835"/>
            <a:ext cx="5409000" cy="39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Anirban</a:t>
            </a:r>
            <a:endParaRPr b="0" i="0" sz="1200" u="none" cap="none" strike="noStrike">
              <a:solidFill>
                <a:schemeClr val="dk1"/>
              </a:solidFill>
              <a:latin typeface="Calibri"/>
              <a:ea typeface="Calibri"/>
              <a:cs typeface="Calibri"/>
              <a:sym typeface="Calibri"/>
            </a:endParaRPr>
          </a:p>
        </p:txBody>
      </p:sp>
      <p:sp>
        <p:nvSpPr>
          <p:cNvPr id="188" name="Google Shape;188;h50ca23903e8f00da_2_28:notes"/>
          <p:cNvSpPr/>
          <p:nvPr>
            <p:ph idx="2" type="sldImg"/>
          </p:nvPr>
        </p:nvSpPr>
        <p:spPr>
          <a:xfrm>
            <a:off x="398463" y="1243013"/>
            <a:ext cx="5964300" cy="335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50ca23903e8f00da_4_38:notes"/>
          <p:cNvSpPr/>
          <p:nvPr>
            <p:ph idx="2" type="sldImg"/>
          </p:nvPr>
        </p:nvSpPr>
        <p:spPr>
          <a:xfrm>
            <a:off x="398463" y="1243013"/>
            <a:ext cx="5964300" cy="335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h50ca23903e8f00da_4_38:notes"/>
          <p:cNvSpPr txBox="1"/>
          <p:nvPr>
            <p:ph idx="1" type="body"/>
          </p:nvPr>
        </p:nvSpPr>
        <p:spPr>
          <a:xfrm>
            <a:off x="676117" y="4784835"/>
            <a:ext cx="5409000" cy="3915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Anirban</a:t>
            </a:r>
            <a:endParaRPr/>
          </a:p>
          <a:p>
            <a:pPr indent="0" lvl="0" marL="0" rtl="0" algn="l">
              <a:spcBef>
                <a:spcPts val="0"/>
              </a:spcBef>
              <a:spcAft>
                <a:spcPts val="0"/>
              </a:spcAft>
              <a:buNone/>
            </a:pPr>
            <a:r>
              <a:t/>
            </a:r>
            <a:endParaRPr/>
          </a:p>
        </p:txBody>
      </p:sp>
      <p:sp>
        <p:nvSpPr>
          <p:cNvPr id="196" name="Google Shape;196;h50ca23903e8f00da_4_38:notes"/>
          <p:cNvSpPr txBox="1"/>
          <p:nvPr>
            <p:ph idx="12" type="sldNum"/>
          </p:nvPr>
        </p:nvSpPr>
        <p:spPr>
          <a:xfrm>
            <a:off x="3829761" y="9443662"/>
            <a:ext cx="2929800" cy="498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49217a08e3776f8a_2_21:notes"/>
          <p:cNvSpPr/>
          <p:nvPr>
            <p:ph idx="2" type="sldImg"/>
          </p:nvPr>
        </p:nvSpPr>
        <p:spPr>
          <a:xfrm>
            <a:off x="398463" y="1243013"/>
            <a:ext cx="5964300" cy="335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h49217a08e3776f8a_2_21:notes"/>
          <p:cNvSpPr txBox="1"/>
          <p:nvPr>
            <p:ph idx="1" type="body"/>
          </p:nvPr>
        </p:nvSpPr>
        <p:spPr>
          <a:xfrm>
            <a:off x="676117" y="4784835"/>
            <a:ext cx="5409000" cy="3915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Anirban</a:t>
            </a:r>
            <a:endParaRPr/>
          </a:p>
        </p:txBody>
      </p:sp>
      <p:sp>
        <p:nvSpPr>
          <p:cNvPr id="205" name="Google Shape;205;h49217a08e3776f8a_2_21:notes"/>
          <p:cNvSpPr txBox="1"/>
          <p:nvPr>
            <p:ph idx="12" type="sldNum"/>
          </p:nvPr>
        </p:nvSpPr>
        <p:spPr>
          <a:xfrm>
            <a:off x="3829761" y="9443662"/>
            <a:ext cx="2929800" cy="498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Rohan</a:t>
            </a:r>
            <a:endParaRPr b="0" i="0" sz="1200" u="none" cap="none" strike="noStrike">
              <a:solidFill>
                <a:schemeClr val="dk1"/>
              </a:solidFill>
              <a:latin typeface="Calibri"/>
              <a:ea typeface="Calibri"/>
              <a:cs typeface="Calibri"/>
              <a:sym typeface="Calibri"/>
            </a:endParaRPr>
          </a:p>
        </p:txBody>
      </p:sp>
      <p:sp>
        <p:nvSpPr>
          <p:cNvPr id="212" name="Google Shape;212;p8: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49217a08e3776f8a_2_13:notes"/>
          <p:cNvSpPr/>
          <p:nvPr>
            <p:ph idx="2" type="sldImg"/>
          </p:nvPr>
        </p:nvSpPr>
        <p:spPr>
          <a:xfrm>
            <a:off x="398463" y="1243013"/>
            <a:ext cx="5964300" cy="335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h49217a08e3776f8a_2_13:notes"/>
          <p:cNvSpPr txBox="1"/>
          <p:nvPr>
            <p:ph idx="1" type="body"/>
          </p:nvPr>
        </p:nvSpPr>
        <p:spPr>
          <a:xfrm>
            <a:off x="676117" y="4784835"/>
            <a:ext cx="5409000" cy="3915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Rohan</a:t>
            </a:r>
            <a:endParaRPr/>
          </a:p>
        </p:txBody>
      </p:sp>
      <p:sp>
        <p:nvSpPr>
          <p:cNvPr id="220" name="Google Shape;220;h49217a08e3776f8a_2_13:notes"/>
          <p:cNvSpPr txBox="1"/>
          <p:nvPr>
            <p:ph idx="12" type="sldNum"/>
          </p:nvPr>
        </p:nvSpPr>
        <p:spPr>
          <a:xfrm>
            <a:off x="3829761" y="9443662"/>
            <a:ext cx="2929800" cy="498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h50ca23903e8f00da_4_22:notes"/>
          <p:cNvSpPr/>
          <p:nvPr>
            <p:ph idx="2" type="sldImg"/>
          </p:nvPr>
        </p:nvSpPr>
        <p:spPr>
          <a:xfrm>
            <a:off x="398463" y="1243013"/>
            <a:ext cx="5964300" cy="3356100"/>
          </a:xfrm>
          <a:custGeom>
            <a:rect b="b" l="l" r="r" t="t"/>
            <a:pathLst>
              <a:path extrusionOk="0" h="120000" w="120000">
                <a:moveTo>
                  <a:pt x="0" y="0"/>
                </a:moveTo>
                <a:lnTo>
                  <a:pt x="120000" y="0"/>
                </a:lnTo>
                <a:lnTo>
                  <a:pt x="120000" y="120000"/>
                </a:lnTo>
                <a:lnTo>
                  <a:pt x="0" y="120000"/>
                </a:lnTo>
                <a:close/>
              </a:path>
            </a:pathLst>
          </a:custGeom>
        </p:spPr>
      </p:sp>
      <p:sp>
        <p:nvSpPr>
          <p:cNvPr id="226" name="Google Shape;226;h50ca23903e8f00da_4_22:notes"/>
          <p:cNvSpPr txBox="1"/>
          <p:nvPr>
            <p:ph idx="1" type="body"/>
          </p:nvPr>
        </p:nvSpPr>
        <p:spPr>
          <a:xfrm>
            <a:off x="676117" y="4784835"/>
            <a:ext cx="5409000" cy="3915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IN"/>
              <a:t>Rohan</a:t>
            </a:r>
            <a:endParaRPr/>
          </a:p>
        </p:txBody>
      </p:sp>
      <p:sp>
        <p:nvSpPr>
          <p:cNvPr id="227" name="Google Shape;227;h50ca23903e8f00da_4_22:notes"/>
          <p:cNvSpPr txBox="1"/>
          <p:nvPr>
            <p:ph idx="12" type="sldNum"/>
          </p:nvPr>
        </p:nvSpPr>
        <p:spPr>
          <a:xfrm>
            <a:off x="3829761" y="9443662"/>
            <a:ext cx="2929800" cy="498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Ratnasree</a:t>
            </a:r>
            <a:endParaRPr b="0" i="0" sz="1200" u="none" cap="none" strike="noStrike">
              <a:solidFill>
                <a:schemeClr val="dk1"/>
              </a:solidFill>
              <a:latin typeface="Calibri"/>
              <a:ea typeface="Calibri"/>
              <a:cs typeface="Calibri"/>
              <a:sym typeface="Calibri"/>
            </a:endParaRPr>
          </a:p>
        </p:txBody>
      </p:sp>
      <p:sp>
        <p:nvSpPr>
          <p:cNvPr id="234" name="Google Shape;234;p12: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50ca23903e8f00da_2_10:notes"/>
          <p:cNvSpPr txBox="1"/>
          <p:nvPr>
            <p:ph idx="1" type="body"/>
          </p:nvPr>
        </p:nvSpPr>
        <p:spPr>
          <a:xfrm>
            <a:off x="676117" y="4784835"/>
            <a:ext cx="5409000" cy="391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Ratnasree</a:t>
            </a:r>
            <a:endParaRPr b="0" i="0" sz="1200" u="none" cap="none" strike="noStrike">
              <a:solidFill>
                <a:schemeClr val="dk1"/>
              </a:solidFill>
              <a:latin typeface="Calibri"/>
              <a:ea typeface="Calibri"/>
              <a:cs typeface="Calibri"/>
              <a:sym typeface="Calibri"/>
            </a:endParaRPr>
          </a:p>
        </p:txBody>
      </p:sp>
      <p:sp>
        <p:nvSpPr>
          <p:cNvPr id="241" name="Google Shape;241;h50ca23903e8f00da_2_10:notes"/>
          <p:cNvSpPr/>
          <p:nvPr>
            <p:ph idx="2" type="sldImg"/>
          </p:nvPr>
        </p:nvSpPr>
        <p:spPr>
          <a:xfrm>
            <a:off x="398463" y="1243013"/>
            <a:ext cx="5964300" cy="335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4: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Ratnasree</a:t>
            </a:r>
            <a:endParaRPr b="0" i="0" sz="1200" u="none" cap="none" strike="noStrike">
              <a:solidFill>
                <a:schemeClr val="dk1"/>
              </a:solidFill>
              <a:latin typeface="Calibri"/>
              <a:ea typeface="Calibri"/>
              <a:cs typeface="Calibri"/>
              <a:sym typeface="Calibri"/>
            </a:endParaRPr>
          </a:p>
        </p:txBody>
      </p:sp>
      <p:sp>
        <p:nvSpPr>
          <p:cNvPr id="249" name="Google Shape;249;p14: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5: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IN"/>
              <a:t>Ratnasree</a:t>
            </a:r>
            <a:endParaRPr b="0" i="0" sz="1200" u="none" cap="none" strike="noStrike">
              <a:solidFill>
                <a:schemeClr val="dk1"/>
              </a:solidFill>
              <a:latin typeface="Calibri"/>
              <a:ea typeface="Calibri"/>
              <a:cs typeface="Calibri"/>
              <a:sym typeface="Calibri"/>
            </a:endParaRPr>
          </a:p>
        </p:txBody>
      </p:sp>
      <p:sp>
        <p:nvSpPr>
          <p:cNvPr id="257" name="Google Shape;257;p15: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64" name="Google Shape;264;p16: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8"/>
          <p:cNvSpPr txBox="1"/>
          <p:nvPr>
            <p:ph idx="1" type="body"/>
          </p:nvPr>
        </p:nvSpPr>
        <p:spPr>
          <a:xfrm>
            <a:off x="174813" y="1258282"/>
            <a:ext cx="11842377" cy="491868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indent="-381000" lvl="1" marL="9144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indent="-355600" lvl="2" marL="1371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indent="-342900" lvl="3" marL="18288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indent="-342900" lvl="4" marL="22860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8"/>
          <p:cNvSpPr txBox="1"/>
          <p:nvPr/>
        </p:nvSpPr>
        <p:spPr>
          <a:xfrm>
            <a:off x="5055596" y="6405140"/>
            <a:ext cx="2080806"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sp>
        <p:nvSpPr>
          <p:cNvPr id="18" name="Google Shape;18;p18"/>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9pPr>
          </a:lstStyle>
          <a:p>
            <a:pPr indent="0" lvl="0" marL="0" rtl="0" algn="r">
              <a:spcBef>
                <a:spcPts val="0"/>
              </a:spcBef>
              <a:spcAft>
                <a:spcPts val="0"/>
              </a:spcAft>
              <a:buNone/>
            </a:pPr>
            <a:fld id="{00000000-1234-1234-1234-123412341234}" type="slidenum">
              <a:rPr lang="en-IN"/>
              <a:t>‹#›</a:t>
            </a:fld>
            <a:endParaRPr b="0">
              <a:solidFill>
                <a:srgbClr val="888888"/>
              </a:solidFill>
              <a:latin typeface="Calibri"/>
              <a:ea typeface="Calibri"/>
              <a:cs typeface="Calibri"/>
              <a:sym typeface="Calibri"/>
            </a:endParaRPr>
          </a:p>
        </p:txBody>
      </p:sp>
      <p:pic>
        <p:nvPicPr>
          <p:cNvPr id="20" name="Google Shape;20;p18"/>
          <p:cNvPicPr preferRelativeResize="0"/>
          <p:nvPr/>
        </p:nvPicPr>
        <p:blipFill rotWithShape="1">
          <a:blip r:embed="rId2">
            <a:alphaModFix/>
          </a:blip>
          <a:srcRect b="0" l="0" r="0"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9"/>
          <p:cNvSpPr txBox="1"/>
          <p:nvPr>
            <p:ph type="ctrTitle"/>
          </p:nvPr>
        </p:nvSpPr>
        <p:spPr>
          <a:xfrm>
            <a:off x="1524000" y="119531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19"/>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2400"/>
              <a:buFont typeface="Arial"/>
              <a:buNone/>
            </a:pPr>
            <a:r>
              <a:rPr b="1" i="1" lang="en-IN" sz="2400" u="none" cap="none" strike="noStrike">
                <a:solidFill>
                  <a:srgbClr val="422C75"/>
                </a:solidFill>
                <a:latin typeface="Bookman Old Style"/>
                <a:ea typeface="Bookman Old Style"/>
                <a:cs typeface="Bookman Old Style"/>
                <a:sym typeface="Bookman Old Style"/>
              </a:rPr>
              <a:t>Go, change the world</a:t>
            </a:r>
            <a:endParaRPr b="1" i="0" sz="2400" u="none" cap="none" strike="noStrike">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b="0" l="0" r="0"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20"/>
          <p:cNvSpPr txBox="1"/>
          <p:nvPr>
            <p:ph idx="1" type="body"/>
          </p:nvPr>
        </p:nvSpPr>
        <p:spPr>
          <a:xfrm>
            <a:off x="268942" y="1258282"/>
            <a:ext cx="5750859" cy="4918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0"/>
          <p:cNvSpPr txBox="1"/>
          <p:nvPr>
            <p:ph idx="2" type="body"/>
          </p:nvPr>
        </p:nvSpPr>
        <p:spPr>
          <a:xfrm>
            <a:off x="6172202" y="1258280"/>
            <a:ext cx="5795682" cy="49186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0"/>
          <p:cNvSpPr txBox="1"/>
          <p:nvPr>
            <p:ph idx="10" type="dt"/>
          </p:nvPr>
        </p:nvSpPr>
        <p:spPr>
          <a:xfrm>
            <a:off x="26894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9224683"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b="0" l="0" r="0"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1"/>
          <p:cNvSpPr txBox="1"/>
          <p:nvPr>
            <p:ph type="title"/>
          </p:nvPr>
        </p:nvSpPr>
        <p:spPr>
          <a:xfrm>
            <a:off x="831852"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1852"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grpSp>
      <p:sp>
        <p:nvSpPr>
          <p:cNvPr id="52" name="Google Shape;52;p22"/>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2"/>
          <p:cNvSpPr txBox="1"/>
          <p:nvPr>
            <p:ph idx="2" type="body"/>
          </p:nvPr>
        </p:nvSpPr>
        <p:spPr>
          <a:xfrm>
            <a:off x="839789" y="2505076"/>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2"/>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2"/>
          <p:cNvSpPr txBox="1"/>
          <p:nvPr>
            <p:ph idx="4" type="body"/>
          </p:nvPr>
        </p:nvSpPr>
        <p:spPr>
          <a:xfrm>
            <a:off x="6172202" y="2505076"/>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2"/>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sp>
        <p:nvSpPr>
          <p:cNvPr id="65" name="Google Shape;65;p23"/>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sp>
        <p:nvSpPr>
          <p:cNvPr id="77" name="Google Shape;77;p24"/>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b="0" l="0" r="0" t="0"/>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grpSp>
      <p:sp>
        <p:nvSpPr>
          <p:cNvPr id="93" name="Google Shape;93;p25"/>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5"/>
          <p:cNvSpPr txBox="1"/>
          <p:nvPr>
            <p:ph idx="1" type="body"/>
          </p:nvPr>
        </p:nvSpPr>
        <p:spPr>
          <a:xfrm>
            <a:off x="5183188" y="987425"/>
            <a:ext cx="6172201"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5" name="Google Shape;95;p25"/>
          <p:cNvSpPr txBox="1"/>
          <p:nvPr>
            <p:ph idx="2"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6" name="Google Shape;96;p2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5"/>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26"/>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6"/>
          <p:cNvSpPr/>
          <p:nvPr>
            <p:ph idx="2" type="pic"/>
          </p:nvPr>
        </p:nvSpPr>
        <p:spPr>
          <a:xfrm>
            <a:off x="5183188" y="987425"/>
            <a:ext cx="6172201" cy="4873625"/>
          </a:xfrm>
          <a:prstGeom prst="rect">
            <a:avLst/>
          </a:prstGeom>
          <a:noFill/>
          <a:ln>
            <a:noFill/>
          </a:ln>
        </p:spPr>
      </p:sp>
      <p:sp>
        <p:nvSpPr>
          <p:cNvPr id="105" name="Google Shape;105;p26"/>
          <p:cNvSpPr txBox="1"/>
          <p:nvPr>
            <p:ph idx="1"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6" name="Google Shape;106;p2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6"/>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2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7"/>
          <p:cNvSpPr txBox="1"/>
          <p:nvPr>
            <p:ph idx="1" type="body"/>
          </p:nvPr>
        </p:nvSpPr>
        <p:spPr>
          <a:xfrm rot="5400000">
            <a:off x="3920333"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5" name="Shape 115"/>
        <p:cNvGrpSpPr/>
        <p:nvPr/>
      </p:nvGrpSpPr>
      <p:grpSpPr>
        <a:xfrm>
          <a:off x="0" y="0"/>
          <a:ext cx="0" cy="0"/>
          <a:chOff x="0" y="0"/>
          <a:chExt cx="0" cy="0"/>
        </a:xfrm>
      </p:grpSpPr>
      <p:sp>
        <p:nvSpPr>
          <p:cNvPr id="116" name="Google Shape;116;p28"/>
          <p:cNvSpPr txBox="1"/>
          <p:nvPr>
            <p:ph type="title"/>
          </p:nvPr>
        </p:nvSpPr>
        <p:spPr>
          <a:xfrm rot="5400000">
            <a:off x="7133430"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8"/>
          <p:cNvSpPr txBox="1"/>
          <p:nvPr>
            <p:ph idx="1" type="body"/>
          </p:nvPr>
        </p:nvSpPr>
        <p:spPr>
          <a:xfrm rot="5400000">
            <a:off x="1799430"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28"/>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8"/>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28"/>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2"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gif"/><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pubs.rsc.org/nr/article-abstract/17/36/20865/901807/Advances-in-semiconductor-quantum-dot-based" TargetMode="External"/><Relationship Id="rId4" Type="http://schemas.openxmlformats.org/officeDocument/2006/relationships/hyperlink" Target="https://pmc.ncbi.nlm.nih.gov/articles/PMC13122586/" TargetMode="External"/><Relationship Id="rId5" Type="http://schemas.openxmlformats.org/officeDocument/2006/relationships/hyperlink" Target="https://ieeexplore.ieee.org/abstract/document/10915375" TargetMode="External"/><Relationship Id="rId6" Type="http://schemas.openxmlformats.org/officeDocument/2006/relationships/hyperlink" Target="https://www.researchgate.net/publication/361955792_Highly_Bright_Carbon_Quantum_Dots_for_Flexible_Anti-counterfeiting?utm_source=chatgpt.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descr="A building with a roof  Description automatically generated" id="126" name="Google Shape;126;p1"/>
          <p:cNvPicPr preferRelativeResize="0"/>
          <p:nvPr>
            <p:ph idx="1" type="body"/>
          </p:nvPr>
        </p:nvPicPr>
        <p:blipFill rotWithShape="1">
          <a:blip r:embed="rId3">
            <a:alphaModFix/>
          </a:blip>
          <a:srcRect b="0" l="0" r="0" t="0"/>
          <a:stretch/>
        </p:blipFill>
        <p:spPr>
          <a:xfrm>
            <a:off x="421875" y="1067000"/>
            <a:ext cx="11421000" cy="389880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127" name="Google Shape;127;p1"/>
          <p:cNvSpPr/>
          <p:nvPr/>
        </p:nvSpPr>
        <p:spPr>
          <a:xfrm>
            <a:off x="125475" y="5787427"/>
            <a:ext cx="7822500" cy="924900"/>
          </a:xfrm>
          <a:prstGeom prst="roundRect">
            <a:avLst>
              <a:gd fmla="val 16667" name="adj"/>
            </a:avLst>
          </a:prstGeom>
          <a:solidFill>
            <a:srgbClr val="002060"/>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IN" sz="4000">
                <a:solidFill>
                  <a:schemeClr val="lt1"/>
                </a:solidFill>
                <a:latin typeface="Bookman Old Style"/>
                <a:ea typeface="Bookman Old Style"/>
                <a:cs typeface="Bookman Old Style"/>
                <a:sym typeface="Bookman Old Style"/>
              </a:rPr>
              <a:t>(24) IoT and Sensors</a:t>
            </a:r>
            <a:endParaRPr/>
          </a:p>
        </p:txBody>
      </p:sp>
      <p:sp>
        <p:nvSpPr>
          <p:cNvPr id="128" name="Google Shape;128;p1"/>
          <p:cNvSpPr/>
          <p:nvPr/>
        </p:nvSpPr>
        <p:spPr>
          <a:xfrm>
            <a:off x="125463" y="4554325"/>
            <a:ext cx="11717400" cy="1079700"/>
          </a:xfrm>
          <a:prstGeom prst="roundRect">
            <a:avLst>
              <a:gd fmla="val 16667" name="adj"/>
            </a:avLst>
          </a:prstGeom>
          <a:solidFill>
            <a:srgbClr val="002060"/>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rPr b="1" i="0" lang="en-IN" sz="2600" u="none" cap="none" strike="noStrike">
                <a:solidFill>
                  <a:schemeClr val="lt1"/>
                </a:solidFill>
                <a:latin typeface="Bookman Old Style"/>
                <a:ea typeface="Bookman Old Style"/>
                <a:cs typeface="Bookman Old Style"/>
                <a:sym typeface="Bookman Old Style"/>
              </a:rPr>
              <a:t>Quantum-Dot-Based Optical Fingerprinting System for Product Authentication : </a:t>
            </a:r>
            <a:r>
              <a:rPr b="1" lang="en-IN" sz="3500">
                <a:solidFill>
                  <a:schemeClr val="lt1"/>
                </a:solidFill>
                <a:latin typeface="Bookman Old Style"/>
                <a:ea typeface="Bookman Old Style"/>
                <a:cs typeface="Bookman Old Style"/>
                <a:sym typeface="Bookman Old Style"/>
              </a:rPr>
              <a:t>‘Q</a:t>
            </a:r>
            <a:r>
              <a:rPr b="1" i="0" lang="en-IN" sz="3500" u="none" cap="none" strike="noStrike">
                <a:solidFill>
                  <a:schemeClr val="lt1"/>
                </a:solidFill>
                <a:latin typeface="Bookman Old Style"/>
                <a:ea typeface="Bookman Old Style"/>
                <a:cs typeface="Bookman Old Style"/>
                <a:sym typeface="Bookman Old Style"/>
              </a:rPr>
              <a:t>-D based Auth</a:t>
            </a:r>
            <a:r>
              <a:rPr b="1" lang="en-IN" sz="3500">
                <a:solidFill>
                  <a:schemeClr val="lt1"/>
                </a:solidFill>
                <a:latin typeface="Bookman Old Style"/>
                <a:ea typeface="Bookman Old Style"/>
                <a:cs typeface="Bookman Old Style"/>
                <a:sym typeface="Bookman Old Style"/>
              </a:rPr>
              <a:t>enticator’</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nvSpPr>
        <p:spPr>
          <a:xfrm>
            <a:off x="2320775" y="206000"/>
            <a:ext cx="9647100" cy="699900"/>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a:p>
        </p:txBody>
      </p:sp>
      <p:sp>
        <p:nvSpPr>
          <p:cNvPr id="135" name="Google Shape;135;p2"/>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36" name="Google Shape;136;p2"/>
          <p:cNvSpPr/>
          <p:nvPr/>
        </p:nvSpPr>
        <p:spPr>
          <a:xfrm>
            <a:off x="-23325" y="2987500"/>
            <a:ext cx="5386500" cy="500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IN" sz="3600">
                <a:solidFill>
                  <a:srgbClr val="002060"/>
                </a:solidFill>
                <a:latin typeface="Bookman Old Style"/>
                <a:ea typeface="Bookman Old Style"/>
                <a:cs typeface="Bookman Old Style"/>
                <a:sym typeface="Bookman Old Style"/>
              </a:rPr>
              <a:t>Basavarajeshwari</a:t>
            </a:r>
            <a:endParaRPr sz="3600"/>
          </a:p>
          <a:p>
            <a:pPr indent="0" lvl="0" marL="0" marR="0" rtl="0" algn="ctr">
              <a:lnSpc>
                <a:spcPct val="100000"/>
              </a:lnSpc>
              <a:spcBef>
                <a:spcPts val="300"/>
              </a:spcBef>
              <a:spcAft>
                <a:spcPts val="0"/>
              </a:spcAft>
              <a:buClr>
                <a:srgbClr val="000000"/>
              </a:buClr>
              <a:buSzPts val="1200"/>
              <a:buFont typeface="Arial"/>
              <a:buNone/>
            </a:pPr>
            <a:r>
              <a:t/>
            </a:r>
            <a:endParaRPr sz="3600"/>
          </a:p>
        </p:txBody>
      </p:sp>
      <p:sp>
        <p:nvSpPr>
          <p:cNvPr id="137" name="Google Shape;137;p2"/>
          <p:cNvSpPr/>
          <p:nvPr/>
        </p:nvSpPr>
        <p:spPr>
          <a:xfrm>
            <a:off x="402825" y="3672650"/>
            <a:ext cx="4534200" cy="500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IN" sz="3600">
                <a:solidFill>
                  <a:srgbClr val="002060"/>
                </a:solidFill>
                <a:latin typeface="Bookman Old Style"/>
                <a:ea typeface="Bookman Old Style"/>
                <a:cs typeface="Bookman Old Style"/>
                <a:sym typeface="Bookman Old Style"/>
              </a:rPr>
              <a:t>Ratna Sree K</a:t>
            </a:r>
            <a:endParaRPr sz="3600"/>
          </a:p>
          <a:p>
            <a:pPr indent="0" lvl="0" marL="0" marR="0" rtl="0" algn="ctr">
              <a:lnSpc>
                <a:spcPct val="100000"/>
              </a:lnSpc>
              <a:spcBef>
                <a:spcPts val="300"/>
              </a:spcBef>
              <a:spcAft>
                <a:spcPts val="0"/>
              </a:spcAft>
              <a:buClr>
                <a:srgbClr val="000000"/>
              </a:buClr>
              <a:buSzPts val="1200"/>
              <a:buFont typeface="Arial"/>
              <a:buNone/>
            </a:pPr>
            <a:r>
              <a:t/>
            </a:r>
            <a:endParaRPr sz="3600"/>
          </a:p>
        </p:txBody>
      </p:sp>
      <p:sp>
        <p:nvSpPr>
          <p:cNvPr id="138" name="Google Shape;138;p2"/>
          <p:cNvSpPr/>
          <p:nvPr/>
        </p:nvSpPr>
        <p:spPr>
          <a:xfrm>
            <a:off x="-221775" y="4289700"/>
            <a:ext cx="5783400" cy="500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IN" sz="3600">
                <a:solidFill>
                  <a:srgbClr val="002060"/>
                </a:solidFill>
                <a:latin typeface="Bookman Old Style"/>
                <a:ea typeface="Bookman Old Style"/>
                <a:cs typeface="Bookman Old Style"/>
                <a:sym typeface="Bookman Old Style"/>
              </a:rPr>
              <a:t>Rohan Kachrola</a:t>
            </a:r>
            <a:endParaRPr sz="3600"/>
          </a:p>
        </p:txBody>
      </p:sp>
      <p:sp>
        <p:nvSpPr>
          <p:cNvPr id="139" name="Google Shape;139;p2"/>
          <p:cNvSpPr/>
          <p:nvPr/>
        </p:nvSpPr>
        <p:spPr>
          <a:xfrm>
            <a:off x="-151425" y="5010000"/>
            <a:ext cx="5783400" cy="5001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lang="en-IN" sz="3600">
                <a:solidFill>
                  <a:srgbClr val="002060"/>
                </a:solidFill>
                <a:latin typeface="Bookman Old Style"/>
                <a:ea typeface="Bookman Old Style"/>
                <a:cs typeface="Bookman Old Style"/>
                <a:sym typeface="Bookman Old Style"/>
              </a:rPr>
              <a:t>Vaishnavi Agrawal</a:t>
            </a:r>
            <a:endParaRPr sz="3600"/>
          </a:p>
          <a:p>
            <a:pPr indent="0" lvl="0" marL="0" marR="0" rtl="0" algn="ctr">
              <a:lnSpc>
                <a:spcPct val="100000"/>
              </a:lnSpc>
              <a:spcBef>
                <a:spcPts val="300"/>
              </a:spcBef>
              <a:spcAft>
                <a:spcPts val="0"/>
              </a:spcAft>
              <a:buClr>
                <a:srgbClr val="000000"/>
              </a:buClr>
              <a:buSzPts val="1200"/>
              <a:buFont typeface="Arial"/>
              <a:buNone/>
            </a:pPr>
            <a:r>
              <a:t/>
            </a:r>
            <a:endParaRPr/>
          </a:p>
        </p:txBody>
      </p:sp>
      <p:sp>
        <p:nvSpPr>
          <p:cNvPr id="140" name="Google Shape;140;p2"/>
          <p:cNvSpPr/>
          <p:nvPr/>
        </p:nvSpPr>
        <p:spPr>
          <a:xfrm>
            <a:off x="2746700" y="1104950"/>
            <a:ext cx="8479800" cy="69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4500" u="none" cap="none" strike="noStrike">
                <a:solidFill>
                  <a:srgbClr val="002060"/>
                </a:solidFill>
                <a:latin typeface="Bookman Old Style"/>
                <a:ea typeface="Bookman Old Style"/>
                <a:cs typeface="Bookman Old Style"/>
                <a:sym typeface="Bookman Old Style"/>
              </a:rPr>
              <a:t>T</a:t>
            </a:r>
            <a:r>
              <a:rPr b="1" lang="en-IN" sz="4500">
                <a:solidFill>
                  <a:srgbClr val="002060"/>
                </a:solidFill>
                <a:latin typeface="Bookman Old Style"/>
                <a:ea typeface="Bookman Old Style"/>
                <a:cs typeface="Bookman Old Style"/>
                <a:sym typeface="Bookman Old Style"/>
              </a:rPr>
              <a:t>EAM ECOFLUX</a:t>
            </a:r>
            <a:endParaRPr sz="4600"/>
          </a:p>
        </p:txBody>
      </p:sp>
      <p:sp>
        <p:nvSpPr>
          <p:cNvPr id="141" name="Google Shape;141;p2"/>
          <p:cNvSpPr/>
          <p:nvPr/>
        </p:nvSpPr>
        <p:spPr>
          <a:xfrm>
            <a:off x="8370500" y="2383700"/>
            <a:ext cx="2856000" cy="3078000"/>
          </a:xfrm>
          <a:prstGeom prst="roundRect">
            <a:avLst>
              <a:gd fmla="val 8000" name="adj"/>
            </a:avLst>
          </a:prstGeom>
          <a:solidFill>
            <a:srgbClr val="EEF2F8"/>
          </a:solidFill>
          <a:ln cap="flat" cmpd="sng" w="12700">
            <a:solidFill>
              <a:srgbClr val="4271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sz="2500">
              <a:solidFill>
                <a:srgbClr val="002060"/>
              </a:solidFill>
              <a:latin typeface="Bookman Old Style"/>
              <a:ea typeface="Bookman Old Style"/>
              <a:cs typeface="Bookman Old Style"/>
              <a:sym typeface="Bookman Old Style"/>
            </a:endParaRPr>
          </a:p>
          <a:p>
            <a:pPr indent="0" lvl="0" marL="0" marR="0" rtl="0" algn="ctr">
              <a:lnSpc>
                <a:spcPct val="100000"/>
              </a:lnSpc>
              <a:spcBef>
                <a:spcPts val="0"/>
              </a:spcBef>
              <a:spcAft>
                <a:spcPts val="0"/>
              </a:spcAft>
              <a:buClr>
                <a:srgbClr val="000000"/>
              </a:buClr>
              <a:buSzPts val="1800"/>
              <a:buFont typeface="Arial"/>
              <a:buNone/>
            </a:pPr>
            <a:r>
              <a:rPr b="1" i="0" lang="en-IN" sz="2500" u="none" cap="none" strike="noStrike">
                <a:solidFill>
                  <a:srgbClr val="002060"/>
                </a:solidFill>
                <a:latin typeface="Bookman Old Style"/>
                <a:ea typeface="Bookman Old Style"/>
                <a:cs typeface="Bookman Old Style"/>
                <a:sym typeface="Bookman Old Style"/>
              </a:rPr>
              <a:t>Mentor/Guide</a:t>
            </a:r>
            <a:endParaRPr sz="2100"/>
          </a:p>
          <a:p>
            <a:pPr indent="0" lvl="0" marL="0" marR="0" rtl="0" algn="ctr">
              <a:lnSpc>
                <a:spcPct val="100000"/>
              </a:lnSpc>
              <a:spcBef>
                <a:spcPts val="900"/>
              </a:spcBef>
              <a:spcAft>
                <a:spcPts val="0"/>
              </a:spcAft>
              <a:buClr>
                <a:srgbClr val="000000"/>
              </a:buClr>
              <a:buSzPts val="2000"/>
              <a:buFont typeface="Arial"/>
              <a:buNone/>
            </a:pPr>
            <a:r>
              <a:rPr b="1" lang="en-IN" sz="2700">
                <a:solidFill>
                  <a:srgbClr val="C00000"/>
                </a:solidFill>
                <a:latin typeface="Bookman Old Style"/>
                <a:ea typeface="Bookman Old Style"/>
                <a:cs typeface="Bookman Old Style"/>
                <a:sym typeface="Bookman Old Style"/>
              </a:rPr>
              <a:t>Dr. Anjaneya</a:t>
            </a:r>
            <a:endParaRPr sz="2100"/>
          </a:p>
          <a:p>
            <a:pPr indent="0" lvl="0" marL="0" marR="0" rtl="0" algn="ctr">
              <a:lnSpc>
                <a:spcPct val="100000"/>
              </a:lnSpc>
              <a:spcBef>
                <a:spcPts val="1800"/>
              </a:spcBef>
              <a:spcAft>
                <a:spcPts val="0"/>
              </a:spcAft>
              <a:buClr>
                <a:srgbClr val="000000"/>
              </a:buClr>
              <a:buSzPts val="1400"/>
              <a:buFont typeface="Arial"/>
              <a:buNone/>
            </a:pPr>
            <a:r>
              <a:t/>
            </a:r>
            <a:endParaRPr b="1" sz="2100"/>
          </a:p>
        </p:txBody>
      </p:sp>
      <p:sp>
        <p:nvSpPr>
          <p:cNvPr id="142" name="Google Shape;142;p2"/>
          <p:cNvSpPr txBox="1"/>
          <p:nvPr/>
        </p:nvSpPr>
        <p:spPr>
          <a:xfrm>
            <a:off x="-23325" y="388825"/>
            <a:ext cx="11883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2800">
                <a:solidFill>
                  <a:srgbClr val="C00000"/>
                </a:solidFill>
                <a:latin typeface="Bookman Old Style"/>
                <a:ea typeface="Bookman Old Style"/>
                <a:cs typeface="Bookman Old Style"/>
                <a:sym typeface="Bookman Old Style"/>
              </a:rPr>
              <a:t>Q-D based Authenticator</a:t>
            </a:r>
            <a:endParaRPr>
              <a:solidFill>
                <a:schemeClr val="dk1"/>
              </a:solidFill>
            </a:endParaRPr>
          </a:p>
        </p:txBody>
      </p:sp>
      <p:sp>
        <p:nvSpPr>
          <p:cNvPr id="143" name="Google Shape;143;p2"/>
          <p:cNvSpPr txBox="1"/>
          <p:nvPr/>
        </p:nvSpPr>
        <p:spPr>
          <a:xfrm flipH="1">
            <a:off x="656475" y="2218921"/>
            <a:ext cx="40269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IN" sz="3700">
                <a:solidFill>
                  <a:srgbClr val="002060"/>
                </a:solidFill>
                <a:latin typeface="Bookman Old Style"/>
                <a:ea typeface="Bookman Old Style"/>
                <a:cs typeface="Bookman Old Style"/>
                <a:sym typeface="Bookman Old Style"/>
              </a:rPr>
              <a:t>Anirban Biswas</a:t>
            </a:r>
            <a:endParaRPr sz="3700">
              <a:solidFill>
                <a:schemeClr val="dk1"/>
              </a:solidFill>
            </a:endParaRPr>
          </a:p>
          <a:p>
            <a:pPr indent="0" lvl="0" marL="0" rtl="0" algn="ctr">
              <a:spcBef>
                <a:spcPts val="0"/>
              </a:spcBef>
              <a:spcAft>
                <a:spcPts val="0"/>
              </a:spcAft>
              <a:buNone/>
            </a:pPr>
            <a:r>
              <a:t/>
            </a:r>
            <a:endParaRPr sz="5100">
              <a:solidFill>
                <a:schemeClr val="dk1"/>
              </a:solidFill>
              <a:latin typeface="Calibri"/>
              <a:ea typeface="Calibri"/>
              <a:cs typeface="Calibri"/>
              <a:sym typeface="Calibri"/>
            </a:endParaRPr>
          </a:p>
        </p:txBody>
      </p:sp>
      <p:sp>
        <p:nvSpPr>
          <p:cNvPr id="144" name="Google Shape;144;p2"/>
          <p:cNvSpPr txBox="1"/>
          <p:nvPr/>
        </p:nvSpPr>
        <p:spPr>
          <a:xfrm>
            <a:off x="5366825" y="3946000"/>
            <a:ext cx="6854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50" name="Google Shape;150;p3"/>
          <p:cNvSpPr txBox="1"/>
          <p:nvPr/>
        </p:nvSpPr>
        <p:spPr>
          <a:xfrm>
            <a:off x="2339498" y="178833"/>
            <a:ext cx="8551282" cy="63869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200"/>
              <a:buFont typeface="Calibri"/>
              <a:buNone/>
            </a:pPr>
            <a:r>
              <a:t/>
            </a:r>
            <a:endParaRPr b="1" i="0" sz="3200" u="none" cap="none" strike="noStrike">
              <a:solidFill>
                <a:srgbClr val="C00000"/>
              </a:solidFill>
              <a:latin typeface="Calibri"/>
              <a:ea typeface="Calibri"/>
              <a:cs typeface="Calibri"/>
              <a:sym typeface="Calibri"/>
            </a:endParaRPr>
          </a:p>
        </p:txBody>
      </p:sp>
      <p:sp>
        <p:nvSpPr>
          <p:cNvPr id="151" name="Google Shape;151;p3"/>
          <p:cNvSpPr txBox="1"/>
          <p:nvPr/>
        </p:nvSpPr>
        <p:spPr>
          <a:xfrm>
            <a:off x="2182762" y="89747"/>
            <a:ext cx="8151863" cy="1319953"/>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EL Phase-I</a:t>
            </a:r>
            <a:endParaRPr/>
          </a:p>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Presentation Outline</a:t>
            </a:r>
            <a:endParaRPr/>
          </a:p>
        </p:txBody>
      </p:sp>
      <p:sp>
        <p:nvSpPr>
          <p:cNvPr id="152" name="Google Shape;152;p3"/>
          <p:cNvSpPr txBox="1"/>
          <p:nvPr>
            <p:ph idx="1" type="body"/>
          </p:nvPr>
        </p:nvSpPr>
        <p:spPr>
          <a:xfrm>
            <a:off x="575733" y="1666874"/>
            <a:ext cx="11441457" cy="451008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Introduction</a:t>
            </a:r>
            <a:endParaRPr/>
          </a:p>
          <a:p>
            <a:pPr indent="-228600" lvl="0" marL="228600" rtl="0" algn="l">
              <a:lnSpc>
                <a:spcPct val="90000"/>
              </a:lnSpc>
              <a:spcBef>
                <a:spcPts val="35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Problem Definition</a:t>
            </a:r>
            <a:endParaRPr sz="2200"/>
          </a:p>
          <a:p>
            <a:pPr indent="-228600" lvl="0" marL="228600" rtl="0" algn="l">
              <a:lnSpc>
                <a:spcPct val="90000"/>
              </a:lnSpc>
              <a:spcBef>
                <a:spcPts val="350"/>
              </a:spcBef>
              <a:spcAft>
                <a:spcPts val="0"/>
              </a:spcAft>
              <a:buClr>
                <a:srgbClr val="002060"/>
              </a:buClr>
              <a:buSzPts val="2000"/>
              <a:buFont typeface="Arial"/>
              <a:buChar char="•"/>
            </a:pPr>
            <a:r>
              <a:rPr lang="en-IN" sz="2200"/>
              <a:t>Literature Review &amp; Research Gap</a:t>
            </a:r>
            <a:endParaRPr/>
          </a:p>
          <a:p>
            <a:pPr indent="-228600" lvl="0" marL="228600" rtl="0" algn="l">
              <a:lnSpc>
                <a:spcPct val="90000"/>
              </a:lnSpc>
              <a:spcBef>
                <a:spcPts val="35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Objectives</a:t>
            </a:r>
            <a:endParaRPr/>
          </a:p>
          <a:p>
            <a:pPr indent="-228600" lvl="0" marL="228600" rtl="0" algn="l">
              <a:lnSpc>
                <a:spcPct val="90000"/>
              </a:lnSpc>
              <a:spcBef>
                <a:spcPts val="35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Methodology</a:t>
            </a:r>
            <a:endParaRPr/>
          </a:p>
          <a:p>
            <a:pPr indent="-228600" lvl="0" marL="228600" rtl="0" algn="l">
              <a:lnSpc>
                <a:spcPct val="90000"/>
              </a:lnSpc>
              <a:spcBef>
                <a:spcPts val="35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Proposed Outcomes</a:t>
            </a:r>
            <a:endParaRPr sz="2200">
              <a:solidFill>
                <a:srgbClr val="002060"/>
              </a:solidFill>
              <a:latin typeface="Bookman Old Style"/>
              <a:ea typeface="Bookman Old Style"/>
              <a:cs typeface="Bookman Old Style"/>
              <a:sym typeface="Bookman Old Style"/>
            </a:endParaRPr>
          </a:p>
          <a:p>
            <a:pPr indent="-241300" lvl="0" marL="228600" rtl="0" algn="l">
              <a:lnSpc>
                <a:spcPct val="90000"/>
              </a:lnSpc>
              <a:spcBef>
                <a:spcPts val="350"/>
              </a:spcBef>
              <a:spcAft>
                <a:spcPts val="0"/>
              </a:spcAft>
              <a:buSzPts val="2200"/>
              <a:buChar char="•"/>
            </a:pPr>
            <a:r>
              <a:rPr lang="en-IN" sz="2200"/>
              <a:t>Timeline</a:t>
            </a:r>
            <a:endParaRPr sz="2200"/>
          </a:p>
          <a:p>
            <a:pPr indent="-228600" lvl="0" marL="228600" rtl="0" algn="l">
              <a:lnSpc>
                <a:spcPct val="90000"/>
              </a:lnSpc>
              <a:spcBef>
                <a:spcPts val="35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Conclusion</a:t>
            </a:r>
            <a:endParaRPr/>
          </a:p>
          <a:p>
            <a:pPr indent="-228600" lvl="0" marL="228600" rtl="0" algn="l">
              <a:lnSpc>
                <a:spcPct val="90000"/>
              </a:lnSpc>
              <a:spcBef>
                <a:spcPts val="350"/>
              </a:spcBef>
              <a:spcAft>
                <a:spcPts val="0"/>
              </a:spcAft>
              <a:buClr>
                <a:srgbClr val="002060"/>
              </a:buClr>
              <a:buSzPts val="2000"/>
              <a:buFont typeface="Arial"/>
              <a:buChar char="•"/>
            </a:pPr>
            <a:r>
              <a:rPr lang="en-IN" sz="2200">
                <a:solidFill>
                  <a:srgbClr val="002060"/>
                </a:solidFill>
                <a:latin typeface="Bookman Old Style"/>
                <a:ea typeface="Bookman Old Style"/>
                <a:cs typeface="Bookman Old Style"/>
                <a:sym typeface="Bookman Old Style"/>
              </a:rPr>
              <a:t>References</a:t>
            </a:r>
            <a:endParaRPr/>
          </a:p>
        </p:txBody>
      </p:sp>
      <p:pic>
        <p:nvPicPr>
          <p:cNvPr id="153" name="Google Shape;153;p3"/>
          <p:cNvPicPr preferRelativeResize="0"/>
          <p:nvPr/>
        </p:nvPicPr>
        <p:blipFill>
          <a:blip r:embed="rId3">
            <a:alphaModFix/>
          </a:blip>
          <a:stretch>
            <a:fillRect/>
          </a:stretch>
        </p:blipFill>
        <p:spPr>
          <a:xfrm>
            <a:off x="6096000" y="2209176"/>
            <a:ext cx="5630976" cy="27463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4"/>
          <p:cNvSpPr txBox="1"/>
          <p:nvPr>
            <p:ph idx="1" type="body"/>
          </p:nvPr>
        </p:nvSpPr>
        <p:spPr>
          <a:xfrm>
            <a:off x="0" y="902800"/>
            <a:ext cx="11640000" cy="58581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900"/>
              </a:spcBef>
              <a:spcAft>
                <a:spcPts val="0"/>
              </a:spcAft>
              <a:buClr>
                <a:srgbClr val="262626"/>
              </a:buClr>
              <a:buSzPts val="2200"/>
              <a:buChar char="●"/>
            </a:pPr>
            <a:r>
              <a:rPr lang="en-IN" sz="2200">
                <a:solidFill>
                  <a:srgbClr val="262626"/>
                </a:solidFill>
              </a:rPr>
              <a:t>Companies </a:t>
            </a:r>
            <a:r>
              <a:rPr b="1" lang="en-IN" sz="2200">
                <a:solidFill>
                  <a:srgbClr val="262626"/>
                </a:solidFill>
              </a:rPr>
              <a:t>lose billions of dollars</a:t>
            </a:r>
            <a:r>
              <a:rPr lang="en-IN" sz="2200">
                <a:solidFill>
                  <a:srgbClr val="262626"/>
                </a:solidFill>
              </a:rPr>
              <a:t> e</a:t>
            </a:r>
            <a:r>
              <a:rPr lang="en-IN" sz="2200">
                <a:solidFill>
                  <a:srgbClr val="262626"/>
                </a:solidFill>
              </a:rPr>
              <a:t>very year when cheap, fake copies of their products enter the store shelves.</a:t>
            </a:r>
            <a:endParaRPr sz="2200">
              <a:solidFill>
                <a:srgbClr val="262626"/>
              </a:solidFill>
            </a:endParaRPr>
          </a:p>
          <a:p>
            <a:pPr indent="-368300" lvl="0" marL="457200" rtl="0" algn="l">
              <a:lnSpc>
                <a:spcPct val="115000"/>
              </a:lnSpc>
              <a:spcBef>
                <a:spcPts val="0"/>
              </a:spcBef>
              <a:spcAft>
                <a:spcPts val="0"/>
              </a:spcAft>
              <a:buClr>
                <a:srgbClr val="262626"/>
              </a:buClr>
              <a:buSzPts val="2200"/>
              <a:buChar char="●"/>
            </a:pPr>
            <a:r>
              <a:rPr lang="en-IN" sz="2200">
                <a:solidFill>
                  <a:srgbClr val="262626"/>
                </a:solidFill>
              </a:rPr>
              <a:t>Counterfeit items like fake medicines/faulty tech parts can cause a lot of harm and customers may </a:t>
            </a:r>
            <a:r>
              <a:rPr b="1" lang="en-IN" sz="2200">
                <a:solidFill>
                  <a:srgbClr val="262626"/>
                </a:solidFill>
              </a:rPr>
              <a:t>lose total trust in the original brand</a:t>
            </a:r>
            <a:r>
              <a:rPr lang="en-IN" sz="2200">
                <a:solidFill>
                  <a:srgbClr val="262626"/>
                </a:solidFill>
              </a:rPr>
              <a:t> and stop buying from them.</a:t>
            </a:r>
            <a:endParaRPr sz="2200">
              <a:solidFill>
                <a:srgbClr val="262626"/>
              </a:solidFill>
            </a:endParaRPr>
          </a:p>
          <a:p>
            <a:pPr indent="-368300" lvl="0" marL="457200" rtl="0" algn="l">
              <a:lnSpc>
                <a:spcPct val="115000"/>
              </a:lnSpc>
              <a:spcBef>
                <a:spcPts val="0"/>
              </a:spcBef>
              <a:spcAft>
                <a:spcPts val="0"/>
              </a:spcAft>
              <a:buClr>
                <a:srgbClr val="262626"/>
              </a:buClr>
              <a:buSzPts val="2200"/>
              <a:buChar char="●"/>
            </a:pPr>
            <a:r>
              <a:rPr lang="en-IN" sz="2200">
                <a:solidFill>
                  <a:srgbClr val="262626"/>
                </a:solidFill>
              </a:rPr>
              <a:t>Hence, businesses need a </a:t>
            </a:r>
            <a:r>
              <a:rPr b="1" lang="en-IN" sz="2200">
                <a:solidFill>
                  <a:srgbClr val="262626"/>
                </a:solidFill>
              </a:rPr>
              <a:t>reliable method</a:t>
            </a:r>
            <a:r>
              <a:rPr lang="en-IN" sz="2200">
                <a:solidFill>
                  <a:srgbClr val="262626"/>
                </a:solidFill>
              </a:rPr>
              <a:t> to </a:t>
            </a:r>
            <a:r>
              <a:rPr b="1" lang="en-IN" sz="2200">
                <a:solidFill>
                  <a:srgbClr val="262626"/>
                </a:solidFill>
              </a:rPr>
              <a:t>identify their authentic products</a:t>
            </a:r>
            <a:r>
              <a:rPr lang="en-IN" sz="2200">
                <a:solidFill>
                  <a:srgbClr val="262626"/>
                </a:solidFill>
              </a:rPr>
              <a:t> and track them securely across the supply chain :  Organizations currently rely on </a:t>
            </a:r>
            <a:r>
              <a:rPr b="1" lang="en-IN" sz="2200">
                <a:solidFill>
                  <a:srgbClr val="262626"/>
                </a:solidFill>
              </a:rPr>
              <a:t>conventional tracking tools</a:t>
            </a:r>
            <a:r>
              <a:rPr lang="en-IN" sz="2200">
                <a:solidFill>
                  <a:srgbClr val="262626"/>
                </a:solidFill>
              </a:rPr>
              <a:t> like </a:t>
            </a:r>
            <a:r>
              <a:rPr b="1" lang="en-IN" sz="2200">
                <a:solidFill>
                  <a:srgbClr val="262626"/>
                </a:solidFill>
              </a:rPr>
              <a:t>barcodes,</a:t>
            </a:r>
            <a:r>
              <a:rPr lang="en-IN" sz="2200">
                <a:solidFill>
                  <a:srgbClr val="262626"/>
                </a:solidFill>
              </a:rPr>
              <a:t> </a:t>
            </a:r>
            <a:r>
              <a:rPr b="1" lang="en-IN" sz="2200">
                <a:solidFill>
                  <a:srgbClr val="262626"/>
                </a:solidFill>
              </a:rPr>
              <a:t>QR codes, RFID tags,</a:t>
            </a:r>
            <a:r>
              <a:rPr lang="en-IN" sz="2200">
                <a:solidFill>
                  <a:srgbClr val="262626"/>
                </a:solidFill>
              </a:rPr>
              <a:t> and </a:t>
            </a:r>
            <a:r>
              <a:rPr b="1" lang="en-IN" sz="2200">
                <a:solidFill>
                  <a:srgbClr val="262626"/>
                </a:solidFill>
              </a:rPr>
              <a:t>holographic labels</a:t>
            </a:r>
            <a:r>
              <a:rPr lang="en-IN" sz="2200">
                <a:solidFill>
                  <a:srgbClr val="262626"/>
                </a:solidFill>
              </a:rPr>
              <a:t> embedded on packaging. </a:t>
            </a:r>
            <a:endParaRPr sz="2200">
              <a:solidFill>
                <a:srgbClr val="262626"/>
              </a:solidFill>
            </a:endParaRPr>
          </a:p>
          <a:p>
            <a:pPr indent="0" lvl="0" marL="457200" rtl="0" algn="l">
              <a:lnSpc>
                <a:spcPct val="115000"/>
              </a:lnSpc>
              <a:spcBef>
                <a:spcPts val="2100"/>
              </a:spcBef>
              <a:spcAft>
                <a:spcPts val="0"/>
              </a:spcAft>
              <a:buNone/>
            </a:pPr>
            <a:r>
              <a:t/>
            </a:r>
            <a:endParaRPr sz="2200">
              <a:solidFill>
                <a:srgbClr val="262626"/>
              </a:solidFill>
            </a:endParaRPr>
          </a:p>
          <a:p>
            <a:pPr indent="0" lvl="0" marL="0" rtl="0" algn="l">
              <a:lnSpc>
                <a:spcPct val="115000"/>
              </a:lnSpc>
              <a:spcBef>
                <a:spcPts val="1200"/>
              </a:spcBef>
              <a:spcAft>
                <a:spcPts val="0"/>
              </a:spcAft>
              <a:buNone/>
            </a:pPr>
            <a:r>
              <a:t/>
            </a:r>
            <a:endParaRPr sz="1200">
              <a:solidFill>
                <a:schemeClr val="dk1"/>
              </a:solidFill>
            </a:endParaRPr>
          </a:p>
          <a:p>
            <a:pPr indent="0" lvl="0" marL="457200" rtl="0" algn="l">
              <a:lnSpc>
                <a:spcPct val="90000"/>
              </a:lnSpc>
              <a:spcBef>
                <a:spcPts val="1100"/>
              </a:spcBef>
              <a:spcAft>
                <a:spcPts val="0"/>
              </a:spcAft>
              <a:buNone/>
            </a:pPr>
            <a:r>
              <a:t/>
            </a:r>
            <a:endParaRPr/>
          </a:p>
          <a:p>
            <a:pPr indent="0" lvl="0" marL="0" rtl="0" algn="l">
              <a:lnSpc>
                <a:spcPct val="90000"/>
              </a:lnSpc>
              <a:spcBef>
                <a:spcPts val="1100"/>
              </a:spcBef>
              <a:spcAft>
                <a:spcPts val="0"/>
              </a:spcAft>
              <a:buNone/>
            </a:pPr>
            <a:r>
              <a:t/>
            </a:r>
            <a:endParaRPr/>
          </a:p>
        </p:txBody>
      </p:sp>
      <p:sp>
        <p:nvSpPr>
          <p:cNvPr id="159" name="Google Shape;159;p4"/>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60" name="Google Shape;160;p4"/>
          <p:cNvSpPr txBox="1"/>
          <p:nvPr/>
        </p:nvSpPr>
        <p:spPr>
          <a:xfrm>
            <a:off x="1360820" y="63395"/>
            <a:ext cx="9834300" cy="839400"/>
          </a:xfrm>
          <a:prstGeom prst="rect">
            <a:avLst/>
          </a:prstGeom>
          <a:no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Introduction</a:t>
            </a:r>
            <a:endParaRPr b="1" i="0" sz="4000" u="none" cap="none" strike="noStrike">
              <a:solidFill>
                <a:srgbClr val="C00000"/>
              </a:solidFill>
              <a:latin typeface="Bookman Old Style"/>
              <a:ea typeface="Bookman Old Style"/>
              <a:cs typeface="Bookman Old Style"/>
              <a:sym typeface="Bookman Old Style"/>
            </a:endParaRPr>
          </a:p>
        </p:txBody>
      </p:sp>
      <p:pic>
        <p:nvPicPr>
          <p:cNvPr descr="a black and white barcode with the numbers 0 36000 29145 2 on it (provided by Tenor)" id="161" name="Google Shape;161;p4"/>
          <p:cNvPicPr preferRelativeResize="0"/>
          <p:nvPr/>
        </p:nvPicPr>
        <p:blipFill>
          <a:blip r:embed="rId3">
            <a:alphaModFix/>
          </a:blip>
          <a:stretch>
            <a:fillRect/>
          </a:stretch>
        </p:blipFill>
        <p:spPr>
          <a:xfrm>
            <a:off x="506300" y="4877975"/>
            <a:ext cx="2978975" cy="1693675"/>
          </a:xfrm>
          <a:prstGeom prst="rect">
            <a:avLst/>
          </a:prstGeom>
          <a:noFill/>
          <a:ln>
            <a:noFill/>
          </a:ln>
        </p:spPr>
      </p:pic>
      <p:pic>
        <p:nvPicPr>
          <p:cNvPr descr="Bar code Scanner Icon / Or-code (provided by Getty Images)" id="162" name="Google Shape;162;p4"/>
          <p:cNvPicPr preferRelativeResize="0"/>
          <p:nvPr/>
        </p:nvPicPr>
        <p:blipFill rotWithShape="1">
          <a:blip r:embed="rId4">
            <a:alphaModFix/>
          </a:blip>
          <a:srcRect b="15301" l="15498" r="15498" t="15308"/>
          <a:stretch/>
        </p:blipFill>
        <p:spPr>
          <a:xfrm>
            <a:off x="3801775" y="4877975"/>
            <a:ext cx="1684265" cy="1693676"/>
          </a:xfrm>
          <a:prstGeom prst="rect">
            <a:avLst/>
          </a:prstGeom>
          <a:noFill/>
          <a:ln>
            <a:noFill/>
          </a:ln>
        </p:spPr>
      </p:pic>
      <p:pic>
        <p:nvPicPr>
          <p:cNvPr id="163" name="Google Shape;163;p4" title="hologram labels.jpg"/>
          <p:cNvPicPr preferRelativeResize="0"/>
          <p:nvPr/>
        </p:nvPicPr>
        <p:blipFill>
          <a:blip r:embed="rId5">
            <a:alphaModFix/>
          </a:blip>
          <a:stretch>
            <a:fillRect/>
          </a:stretch>
        </p:blipFill>
        <p:spPr>
          <a:xfrm>
            <a:off x="9475175" y="4708349"/>
            <a:ext cx="2079151" cy="1863300"/>
          </a:xfrm>
          <a:prstGeom prst="rect">
            <a:avLst/>
          </a:prstGeom>
          <a:noFill/>
          <a:ln>
            <a:noFill/>
          </a:ln>
        </p:spPr>
      </p:pic>
      <p:pic>
        <p:nvPicPr>
          <p:cNvPr descr="Passenger hand holds city pass or transport card. Contactless payment of public transport fares. Tickets template for travel on subway, trolleybus, tram and bus. Public transport pass. (provided by Getty Images)" id="164" name="Google Shape;164;p4"/>
          <p:cNvPicPr preferRelativeResize="0"/>
          <p:nvPr/>
        </p:nvPicPr>
        <p:blipFill rotWithShape="1">
          <a:blip r:embed="rId6">
            <a:alphaModFix/>
          </a:blip>
          <a:srcRect b="46307" l="28084" r="13457" t="16258"/>
          <a:stretch/>
        </p:blipFill>
        <p:spPr>
          <a:xfrm>
            <a:off x="6096000" y="4708349"/>
            <a:ext cx="2909824" cy="1863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idx="1" type="body"/>
          </p:nvPr>
        </p:nvSpPr>
        <p:spPr>
          <a:xfrm>
            <a:off x="361925" y="1166350"/>
            <a:ext cx="11159400" cy="827700"/>
          </a:xfrm>
          <a:prstGeom prst="rect">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457200" rtl="0" algn="l">
              <a:lnSpc>
                <a:spcPct val="90000"/>
              </a:lnSpc>
              <a:spcBef>
                <a:spcPts val="0"/>
              </a:spcBef>
              <a:spcAft>
                <a:spcPts val="0"/>
              </a:spcAft>
              <a:buNone/>
            </a:pPr>
            <a:r>
              <a:rPr lang="en-IN">
                <a:solidFill>
                  <a:schemeClr val="dk1"/>
                </a:solidFill>
                <a:latin typeface="Impact"/>
                <a:ea typeface="Impact"/>
                <a:cs typeface="Impact"/>
                <a:sym typeface="Impact"/>
              </a:rPr>
              <a:t> </a:t>
            </a:r>
            <a:r>
              <a:rPr lang="en-IN" sz="2100">
                <a:solidFill>
                  <a:schemeClr val="dk1"/>
                </a:solidFill>
              </a:rPr>
              <a:t>However, these static technologies </a:t>
            </a:r>
            <a:r>
              <a:rPr b="1" lang="en-IN" sz="2200">
                <a:solidFill>
                  <a:srgbClr val="FF0000"/>
                </a:solidFill>
              </a:rPr>
              <a:t>FAIL </a:t>
            </a:r>
            <a:r>
              <a:rPr lang="en-IN" sz="2100">
                <a:solidFill>
                  <a:schemeClr val="dk1"/>
                </a:solidFill>
              </a:rPr>
              <a:t>to provide absolute security, leaving them highly susceptible to sophisticated replication or tampering.</a:t>
            </a:r>
            <a:endParaRPr sz="2100">
              <a:solidFill>
                <a:srgbClr val="262626"/>
              </a:solidFill>
            </a:endParaRPr>
          </a:p>
          <a:p>
            <a:pPr indent="-355600" lvl="0" marL="457200" rtl="0" algn="l">
              <a:lnSpc>
                <a:spcPct val="115000"/>
              </a:lnSpc>
              <a:spcBef>
                <a:spcPts val="1200"/>
              </a:spcBef>
              <a:spcAft>
                <a:spcPts val="0"/>
              </a:spcAft>
              <a:buClr>
                <a:schemeClr val="dk1"/>
              </a:buClr>
              <a:buSzPts val="2000"/>
              <a:buChar char="•"/>
            </a:pPr>
            <a:r>
              <a:rPr b="1" lang="en-IN" sz="2000"/>
              <a:t>Easy to Clone:</a:t>
            </a:r>
            <a:r>
              <a:rPr lang="en-IN" sz="2000">
                <a:solidFill>
                  <a:schemeClr val="dk1"/>
                </a:solidFill>
              </a:rPr>
              <a:t> QR codes, printed serial numbers and other visible identifiers can be copied and reproduced using high resolution photography/ digital printing, making it difficult to distinguish authentic products from counterfeits.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t>Cost vs. Security Trade-off: </a:t>
            </a:r>
            <a:r>
              <a:rPr lang="en-IN" sz="2000">
                <a:solidFill>
                  <a:schemeClr val="dk1"/>
                </a:solidFill>
              </a:rPr>
              <a:t>Advanced security features, such as specialized holograms and security packaging, can </a:t>
            </a:r>
            <a:r>
              <a:rPr b="1" lang="en-IN" sz="2000">
                <a:solidFill>
                  <a:schemeClr val="dk1"/>
                </a:solidFill>
              </a:rPr>
              <a:t>increase production costs while still having limitations </a:t>
            </a:r>
            <a:r>
              <a:rPr lang="en-IN" sz="2000">
                <a:solidFill>
                  <a:schemeClr val="dk1"/>
                </a:solidFill>
              </a:rPr>
              <a:t>against replication.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t>Core Vulnerability:</a:t>
            </a:r>
            <a:r>
              <a:rPr lang="en-IN" sz="2000">
                <a:solidFill>
                  <a:schemeClr val="dk1"/>
                </a:solidFill>
              </a:rPr>
              <a:t> A valid code or identifier confirms the identity it represents but does not necessarily prove that the physical tag attached to the product is original. It can be peeled off and re-stuck onto fake products.</a:t>
            </a:r>
            <a:endParaRPr sz="2000">
              <a:solidFill>
                <a:schemeClr val="dk1"/>
              </a:solidFill>
            </a:endParaRPr>
          </a:p>
          <a:p>
            <a:pPr indent="0" lvl="0" marL="457200" rtl="0" algn="l">
              <a:lnSpc>
                <a:spcPct val="115000"/>
              </a:lnSpc>
              <a:spcBef>
                <a:spcPts val="1200"/>
              </a:spcBef>
              <a:spcAft>
                <a:spcPts val="1200"/>
              </a:spcAft>
              <a:buNone/>
            </a:pPr>
            <a:r>
              <a:rPr b="1" lang="en-IN" sz="2000">
                <a:solidFill>
                  <a:schemeClr val="dk1"/>
                </a:solidFill>
              </a:rPr>
              <a:t> </a:t>
            </a:r>
            <a:r>
              <a:rPr b="1" lang="en-IN" sz="2000">
                <a:solidFill>
                  <a:srgbClr val="FF0000"/>
                </a:solidFill>
              </a:rPr>
              <a:t>THE CORE CHALLENGE</a:t>
            </a:r>
            <a:r>
              <a:rPr lang="en-IN" sz="2000">
                <a:solidFill>
                  <a:srgbClr val="FF0000"/>
                </a:solidFill>
              </a:rPr>
              <a:t> :</a:t>
            </a:r>
            <a:r>
              <a:rPr b="1" lang="en-IN" sz="2000">
                <a:solidFill>
                  <a:srgbClr val="FF0000"/>
                </a:solidFill>
              </a:rPr>
              <a:t> Can we build a low-cost identification marker that is unique to each tag, tied to physical object, and difficult to copy.</a:t>
            </a:r>
            <a:endParaRPr b="1" sz="2000">
              <a:solidFill>
                <a:srgbClr val="FF0000"/>
              </a:solidFill>
            </a:endParaRPr>
          </a:p>
        </p:txBody>
      </p:sp>
      <p:sp>
        <p:nvSpPr>
          <p:cNvPr id="170" name="Google Shape;170;p6"/>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71" name="Google Shape;171;p6"/>
          <p:cNvSpPr txBox="1"/>
          <p:nvPr/>
        </p:nvSpPr>
        <p:spPr>
          <a:xfrm>
            <a:off x="1503705" y="0"/>
            <a:ext cx="10227600" cy="1076400"/>
          </a:xfrm>
          <a:prstGeom prst="rect">
            <a:avLst/>
          </a:prstGeom>
          <a:no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IN" sz="3600" u="none" cap="none" strike="noStrike">
                <a:solidFill>
                  <a:srgbClr val="C00000"/>
                </a:solidFill>
                <a:latin typeface="Bookman Old Style"/>
                <a:ea typeface="Bookman Old Style"/>
                <a:cs typeface="Bookman Old Style"/>
                <a:sym typeface="Bookman Old Style"/>
              </a:rPr>
              <a:t>Problem Definition</a:t>
            </a:r>
            <a:endParaRPr b="1" i="0" sz="3600" u="none" cap="none" strike="noStrike">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idx="1" type="body"/>
          </p:nvPr>
        </p:nvSpPr>
        <p:spPr>
          <a:xfrm>
            <a:off x="222325" y="1032950"/>
            <a:ext cx="11794800" cy="5825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100"/>
              <a:buFont typeface="Arial"/>
              <a:buNone/>
            </a:pPr>
            <a:r>
              <a:rPr b="1" lang="en-IN" sz="1600">
                <a:solidFill>
                  <a:schemeClr val="dk1"/>
                </a:solidFill>
              </a:rPr>
              <a:t>1. Liu et al. (2019), Nature Communications</a:t>
            </a:r>
            <a:endParaRPr b="1" sz="1600">
              <a:solidFill>
                <a:schemeClr val="dk1"/>
              </a:solidFill>
            </a:endParaRPr>
          </a:p>
          <a:p>
            <a:pPr indent="-330200" lvl="0" marL="457200" rtl="0" algn="l">
              <a:lnSpc>
                <a:spcPct val="100000"/>
              </a:lnSpc>
              <a:spcBef>
                <a:spcPts val="1200"/>
              </a:spcBef>
              <a:spcAft>
                <a:spcPts val="0"/>
              </a:spcAft>
              <a:buClr>
                <a:schemeClr val="dk1"/>
              </a:buClr>
              <a:buSzPts val="1600"/>
              <a:buFont typeface="Bookman Old Style"/>
              <a:buChar char="●"/>
            </a:pPr>
            <a:r>
              <a:rPr lang="en-IN" sz="1600">
                <a:solidFill>
                  <a:schemeClr val="dk1"/>
                </a:solidFill>
              </a:rPr>
              <a:t>Developed quantum-dot fluorescent security labels authenticated using microscopic imaging and AI.</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IN" sz="1600">
                <a:solidFill>
                  <a:schemeClr val="dk1"/>
                </a:solidFill>
              </a:rPr>
              <a:t>Limitation:</a:t>
            </a:r>
            <a:r>
              <a:rPr lang="en-IN" sz="1600">
                <a:solidFill>
                  <a:schemeClr val="dk1"/>
                </a:solidFill>
              </a:rPr>
              <a:t> Uses an imaging-based authentication approach rather than our proposed RGB sensor reader.</a:t>
            </a:r>
            <a:endParaRPr sz="16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IN" sz="1600">
                <a:solidFill>
                  <a:schemeClr val="dk1"/>
                </a:solidFill>
              </a:rPr>
              <a:t>2. Muthamma et al. (2021), Applied Materials Today</a:t>
            </a:r>
            <a:endParaRPr b="1" sz="1600">
              <a:solidFill>
                <a:schemeClr val="dk1"/>
              </a:solidFill>
            </a:endParaRPr>
          </a:p>
          <a:p>
            <a:pPr indent="-330200" lvl="0" marL="457200" rtl="0" algn="l">
              <a:lnSpc>
                <a:spcPct val="100000"/>
              </a:lnSpc>
              <a:spcBef>
                <a:spcPts val="1200"/>
              </a:spcBef>
              <a:spcAft>
                <a:spcPts val="0"/>
              </a:spcAft>
              <a:buClr>
                <a:schemeClr val="dk1"/>
              </a:buClr>
              <a:buSzPts val="1600"/>
              <a:buFont typeface="Bookman Old Style"/>
              <a:buChar char="●"/>
            </a:pPr>
            <a:r>
              <a:rPr lang="en-IN" sz="1600">
                <a:solidFill>
                  <a:schemeClr val="dk1"/>
                </a:solidFill>
              </a:rPr>
              <a:t>Reviewed carbon-dot synthesis, fluorescence properties and security-ink applications.</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IN" sz="1600">
                <a:solidFill>
                  <a:schemeClr val="dk1"/>
                </a:solidFill>
              </a:rPr>
              <a:t>Limitation:</a:t>
            </a:r>
            <a:r>
              <a:rPr lang="en-IN" sz="1600">
                <a:solidFill>
                  <a:schemeClr val="dk1"/>
                </a:solidFill>
              </a:rPr>
              <a:t> Fluorescence-colour-based verification alone may not provide sufficient security.</a:t>
            </a:r>
            <a:endParaRPr sz="16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IN" sz="1600">
                <a:solidFill>
                  <a:schemeClr val="dk1"/>
                </a:solidFill>
              </a:rPr>
              <a:t>3. Carbon Dots for Forensic Applications: A Critical Review (2020), Nanomaterials</a:t>
            </a:r>
            <a:endParaRPr b="1" sz="1600">
              <a:solidFill>
                <a:schemeClr val="dk1"/>
              </a:solidFill>
            </a:endParaRPr>
          </a:p>
          <a:p>
            <a:pPr indent="-330200" lvl="0" marL="457200" rtl="0" algn="l">
              <a:lnSpc>
                <a:spcPct val="100000"/>
              </a:lnSpc>
              <a:spcBef>
                <a:spcPts val="1200"/>
              </a:spcBef>
              <a:spcAft>
                <a:spcPts val="0"/>
              </a:spcAft>
              <a:buClr>
                <a:schemeClr val="dk1"/>
              </a:buClr>
              <a:buSzPts val="1600"/>
              <a:buFont typeface="Bookman Old Style"/>
              <a:buChar char="●"/>
            </a:pPr>
            <a:r>
              <a:rPr lang="en-IN" sz="1600">
                <a:solidFill>
                  <a:schemeClr val="dk1"/>
                </a:solidFill>
              </a:rPr>
              <a:t>Reviewed carbon-dot security inks, optical encryption and anti-counterfeiting applications.</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IN" sz="1600">
                <a:solidFill>
                  <a:schemeClr val="dk1"/>
                </a:solidFill>
              </a:rPr>
              <a:t>Limitation:</a:t>
            </a:r>
            <a:r>
              <a:rPr lang="en-IN" sz="1600">
                <a:solidFill>
                  <a:schemeClr val="dk1"/>
                </a:solidFill>
              </a:rPr>
              <a:t> Measurement standardization, repeatability and integration into automated systems remain important considerations.</a:t>
            </a:r>
            <a:endParaRPr sz="16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IN" sz="1600">
                <a:solidFill>
                  <a:schemeClr val="dk1"/>
                </a:solidFill>
              </a:rPr>
              <a:t>4. Fong et al. (2022), Scientific Reports</a:t>
            </a:r>
            <a:endParaRPr b="1" sz="1600">
              <a:solidFill>
                <a:schemeClr val="dk1"/>
              </a:solidFill>
            </a:endParaRPr>
          </a:p>
          <a:p>
            <a:pPr indent="-330200" lvl="0" marL="457200" rtl="0" algn="l">
              <a:lnSpc>
                <a:spcPct val="100000"/>
              </a:lnSpc>
              <a:spcBef>
                <a:spcPts val="1200"/>
              </a:spcBef>
              <a:spcAft>
                <a:spcPts val="0"/>
              </a:spcAft>
              <a:buClr>
                <a:schemeClr val="dk1"/>
              </a:buClr>
              <a:buSzPts val="1600"/>
              <a:buFont typeface="Bookman Old Style"/>
              <a:buChar char="●"/>
            </a:pPr>
            <a:r>
              <a:rPr lang="en-IN" sz="1600">
                <a:solidFill>
                  <a:schemeClr val="dk1"/>
                </a:solidFill>
              </a:rPr>
              <a:t>Demonstrated quantum-dot tag authentication using photoluminescence measurements at different excitation powers.</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b="1" lang="en-IN" sz="1600">
                <a:solidFill>
                  <a:schemeClr val="dk1"/>
                </a:solidFill>
              </a:rPr>
              <a:t>Limitation:</a:t>
            </a:r>
            <a:r>
              <a:rPr lang="en-IN" sz="1600">
                <a:solidFill>
                  <a:schemeClr val="dk1"/>
                </a:solidFill>
              </a:rPr>
              <a:t> Does not validate the specific low-cost RGB sensor and ESP32 configuration proposed here.</a:t>
            </a:r>
            <a:endParaRPr sz="1600">
              <a:solidFill>
                <a:schemeClr val="dk1"/>
              </a:solidFill>
            </a:endParaRPr>
          </a:p>
          <a:p>
            <a:pPr indent="0" lvl="0" marL="0" rtl="0" algn="l">
              <a:lnSpc>
                <a:spcPct val="100000"/>
              </a:lnSpc>
              <a:spcBef>
                <a:spcPts val="1200"/>
              </a:spcBef>
              <a:spcAft>
                <a:spcPts val="1200"/>
              </a:spcAft>
              <a:buNone/>
            </a:pPr>
            <a:r>
              <a:rPr b="1" lang="en-IN" sz="1600">
                <a:solidFill>
                  <a:schemeClr val="dk1"/>
                </a:solidFill>
              </a:rPr>
              <a:t>Research Gap</a:t>
            </a:r>
            <a:br>
              <a:rPr b="1" lang="en-IN" sz="1600">
                <a:solidFill>
                  <a:schemeClr val="dk1"/>
                </a:solidFill>
              </a:rPr>
            </a:br>
            <a:r>
              <a:rPr lang="en-IN" sz="1600">
                <a:solidFill>
                  <a:schemeClr val="dk1"/>
                </a:solidFill>
              </a:rPr>
              <a:t>Existing studies show that quantum dots can make anti-counterfeit labels, but each has some drawback: Reading them needs AI/microscope, measurements aren’t standardized, aren’t easy to put into automated systems and a low-cost RGB </a:t>
            </a:r>
            <a:r>
              <a:rPr lang="en-IN" sz="1600">
                <a:solidFill>
                  <a:schemeClr val="dk1"/>
                </a:solidFill>
              </a:rPr>
              <a:t>sensor</a:t>
            </a:r>
            <a:r>
              <a:rPr lang="en-IN" sz="1600">
                <a:solidFill>
                  <a:schemeClr val="dk1"/>
                </a:solidFill>
              </a:rPr>
              <a:t> + ESP32 hasn’t been tested.</a:t>
            </a:r>
            <a:endParaRPr b="1" sz="1600">
              <a:solidFill>
                <a:schemeClr val="dk1"/>
              </a:solidFill>
            </a:endParaRPr>
          </a:p>
        </p:txBody>
      </p:sp>
      <p:sp>
        <p:nvSpPr>
          <p:cNvPr id="177" name="Google Shape;177;p5"/>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78" name="Google Shape;178;p5"/>
          <p:cNvSpPr txBox="1"/>
          <p:nvPr/>
        </p:nvSpPr>
        <p:spPr>
          <a:xfrm>
            <a:off x="147899" y="89750"/>
            <a:ext cx="11502300" cy="943200"/>
          </a:xfrm>
          <a:prstGeom prst="rect">
            <a:avLst/>
          </a:prstGeom>
          <a:no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txBox="1"/>
          <p:nvPr>
            <p:ph idx="1" type="body"/>
          </p:nvPr>
        </p:nvSpPr>
        <p:spPr>
          <a:xfrm>
            <a:off x="274000" y="917525"/>
            <a:ext cx="11640000" cy="5940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t/>
            </a:r>
            <a:endParaRPr b="1" sz="2200"/>
          </a:p>
          <a:p>
            <a:pPr indent="-228600" lvl="0" marL="228600" rtl="0" algn="l">
              <a:lnSpc>
                <a:spcPct val="90000"/>
              </a:lnSpc>
              <a:spcBef>
                <a:spcPts val="0"/>
              </a:spcBef>
              <a:spcAft>
                <a:spcPts val="0"/>
              </a:spcAft>
              <a:buClr>
                <a:srgbClr val="002060"/>
              </a:buClr>
              <a:buSzPts val="2000"/>
              <a:buFont typeface="Arial"/>
              <a:buChar char="•"/>
            </a:pPr>
            <a:r>
              <a:rPr b="1" lang="en-IN" sz="2200">
                <a:solidFill>
                  <a:srgbClr val="002060"/>
                </a:solidFill>
              </a:rPr>
              <a:t>Main objective: </a:t>
            </a:r>
            <a:r>
              <a:rPr lang="en-IN" sz="2200">
                <a:solidFill>
                  <a:srgbClr val="262626"/>
                </a:solidFill>
              </a:rPr>
              <a:t>Build and evaluate a low-cost optical </a:t>
            </a:r>
            <a:r>
              <a:rPr lang="en-IN" sz="2200">
                <a:solidFill>
                  <a:srgbClr val="262626"/>
                </a:solidFill>
              </a:rPr>
              <a:t>authenticator</a:t>
            </a:r>
            <a:r>
              <a:rPr lang="en-IN" sz="2200">
                <a:solidFill>
                  <a:srgbClr val="262626"/>
                </a:solidFill>
              </a:rPr>
              <a:t> that reads CQD tag and verifies it using digital fingerprint comparison.</a:t>
            </a:r>
            <a:endParaRPr/>
          </a:p>
          <a:p>
            <a:pPr indent="-228600" lvl="0" marL="228600" rtl="0" algn="l">
              <a:lnSpc>
                <a:spcPct val="90000"/>
              </a:lnSpc>
              <a:spcBef>
                <a:spcPts val="1000"/>
              </a:spcBef>
              <a:spcAft>
                <a:spcPts val="0"/>
              </a:spcAft>
              <a:buClr>
                <a:srgbClr val="002060"/>
              </a:buClr>
              <a:buSzPts val="2000"/>
              <a:buFont typeface="Bookman Old Style"/>
              <a:buChar char="•"/>
            </a:pPr>
            <a:r>
              <a:rPr b="1" lang="en-IN" sz="2200">
                <a:solidFill>
                  <a:srgbClr val="002060"/>
                </a:solidFill>
              </a:rPr>
              <a:t>Specific objectives: </a:t>
            </a:r>
            <a:endParaRPr/>
          </a:p>
          <a:p>
            <a:pPr indent="0" lvl="0" marL="914400" rtl="0" algn="l">
              <a:lnSpc>
                <a:spcPct val="100000"/>
              </a:lnSpc>
              <a:spcBef>
                <a:spcPts val="0"/>
              </a:spcBef>
              <a:spcAft>
                <a:spcPts val="0"/>
              </a:spcAft>
              <a:buNone/>
            </a:pPr>
            <a:r>
              <a:rPr b="1" lang="en-IN" sz="2000"/>
              <a:t>1.  </a:t>
            </a:r>
            <a:r>
              <a:rPr b="1" lang="en-IN" sz="1900"/>
              <a:t>Prepare:</a:t>
            </a:r>
            <a:r>
              <a:rPr lang="en-IN" sz="2100">
                <a:solidFill>
                  <a:srgbClr val="262626"/>
                </a:solidFill>
              </a:rPr>
              <a:t> </a:t>
            </a:r>
            <a:r>
              <a:rPr lang="en-IN" sz="1900">
                <a:solidFill>
                  <a:srgbClr val="262626"/>
                </a:solidFill>
              </a:rPr>
              <a:t>Prepare or identify a suitable CQD sample and fabricate UV-glowing tags that can be pasted on product packaging.</a:t>
            </a:r>
            <a:endParaRPr b="1" sz="1700"/>
          </a:p>
          <a:p>
            <a:pPr indent="0" lvl="0" marL="914400" rtl="0" algn="l">
              <a:lnSpc>
                <a:spcPct val="100000"/>
              </a:lnSpc>
              <a:spcBef>
                <a:spcPts val="0"/>
              </a:spcBef>
              <a:spcAft>
                <a:spcPts val="0"/>
              </a:spcAft>
              <a:buNone/>
            </a:pPr>
            <a:r>
              <a:rPr b="1" lang="en-IN" sz="1700"/>
              <a:t>2.  </a:t>
            </a:r>
            <a:r>
              <a:rPr b="1" lang="en-IN" sz="1900"/>
              <a:t>Measu</a:t>
            </a:r>
            <a:r>
              <a:rPr b="1" lang="en-IN" sz="1900"/>
              <a:t>re</a:t>
            </a:r>
            <a:r>
              <a:rPr b="1" lang="en-IN" sz="1700"/>
              <a:t>:</a:t>
            </a:r>
            <a:r>
              <a:rPr b="1" lang="en-IN" sz="1700"/>
              <a:t> </a:t>
            </a:r>
            <a:r>
              <a:rPr lang="en-IN" sz="1900">
                <a:solidFill>
                  <a:srgbClr val="262626"/>
                </a:solidFill>
              </a:rPr>
              <a:t>Capture at least 10 repeated RGB readings (including intensity) per tag under controlled UV LED conditions.</a:t>
            </a:r>
            <a:endParaRPr b="1" sz="1700"/>
          </a:p>
          <a:p>
            <a:pPr indent="0" lvl="0" marL="914400" rtl="0" algn="l">
              <a:lnSpc>
                <a:spcPct val="100000"/>
              </a:lnSpc>
              <a:spcBef>
                <a:spcPts val="0"/>
              </a:spcBef>
              <a:spcAft>
                <a:spcPts val="0"/>
              </a:spcAft>
              <a:buNone/>
            </a:pPr>
            <a:r>
              <a:rPr b="1" lang="en-IN" sz="1700"/>
              <a:t>3.  </a:t>
            </a:r>
            <a:r>
              <a:rPr b="1" lang="en-IN" sz="1900"/>
              <a:t>Register:</a:t>
            </a:r>
            <a:r>
              <a:rPr b="1" lang="en-IN" sz="1700"/>
              <a:t> </a:t>
            </a:r>
            <a:r>
              <a:rPr lang="en-IN" sz="1900">
                <a:solidFill>
                  <a:srgbClr val="262626"/>
                </a:solidFill>
              </a:rPr>
              <a:t>Create and store a numerical reference profile for each registered tag using the measured values.</a:t>
            </a:r>
            <a:endParaRPr sz="1900">
              <a:solidFill>
                <a:srgbClr val="262626"/>
              </a:solidFill>
            </a:endParaRPr>
          </a:p>
          <a:p>
            <a:pPr indent="0" lvl="0" marL="914400" rtl="0" algn="l">
              <a:lnSpc>
                <a:spcPct val="100000"/>
              </a:lnSpc>
              <a:spcBef>
                <a:spcPts val="0"/>
              </a:spcBef>
              <a:spcAft>
                <a:spcPts val="0"/>
              </a:spcAft>
              <a:buNone/>
            </a:pPr>
            <a:r>
              <a:rPr b="1" lang="en-IN" sz="1900"/>
              <a:t>4.  Evaluate</a:t>
            </a:r>
            <a:r>
              <a:rPr b="1" lang="en-IN" sz="1700"/>
              <a:t>: </a:t>
            </a:r>
            <a:r>
              <a:rPr lang="en-IN" sz="1900">
                <a:solidFill>
                  <a:srgbClr val="262626"/>
                </a:solidFill>
              </a:rPr>
              <a:t>Quantify measurement repeatability, and test whether genuine tags can be told apart from non-matching or imitation samples (for example, ordinary fluorescent dye) using a predefined decision threshold.</a:t>
            </a:r>
            <a:endParaRPr b="1" sz="1700"/>
          </a:p>
          <a:p>
            <a:pPr indent="0" lvl="0" marL="914400" rtl="0" algn="l">
              <a:lnSpc>
                <a:spcPct val="100000"/>
              </a:lnSpc>
              <a:spcBef>
                <a:spcPts val="0"/>
              </a:spcBef>
              <a:spcAft>
                <a:spcPts val="0"/>
              </a:spcAft>
              <a:buNone/>
            </a:pPr>
            <a:r>
              <a:rPr b="1" lang="en-IN" sz="1900"/>
              <a:t>5.  Demonstrate</a:t>
            </a:r>
            <a:r>
              <a:rPr b="1" lang="en-IN" sz="1700"/>
              <a:t>:</a:t>
            </a:r>
            <a:r>
              <a:rPr lang="en-IN" sz="1900">
                <a:solidFill>
                  <a:srgbClr val="262626"/>
                </a:solidFill>
              </a:rPr>
              <a:t> Integrate the sensor with the ESP32 to display MATCH / NO MATCH on the OLED by the final project evaluation.</a:t>
            </a:r>
            <a:endParaRPr b="1" sz="1700"/>
          </a:p>
          <a:p>
            <a:pPr indent="0" lvl="0" marL="0" rtl="0" algn="l">
              <a:lnSpc>
                <a:spcPct val="100000"/>
              </a:lnSpc>
              <a:spcBef>
                <a:spcPts val="0"/>
              </a:spcBef>
              <a:spcAft>
                <a:spcPts val="0"/>
              </a:spcAft>
              <a:buNone/>
            </a:pPr>
            <a:r>
              <a:rPr b="1" lang="en-IN" sz="2000"/>
              <a:t>Expected contribution: </a:t>
            </a:r>
            <a:r>
              <a:rPr lang="en-IN" sz="2200">
                <a:solidFill>
                  <a:srgbClr val="262626"/>
                </a:solidFill>
              </a:rPr>
              <a:t>Testing whether an affordable UV LED + RGB sensor + ESP32 setup can support a useful, low-cost physical-digital tag identity compared with holograms and security packaging</a:t>
            </a:r>
            <a:r>
              <a:rPr b="1" lang="en-IN" sz="2000"/>
              <a:t>.</a:t>
            </a:r>
            <a:endParaRPr b="1" sz="2000"/>
          </a:p>
          <a:p>
            <a:pPr indent="-355600" lvl="1" marL="914400" rtl="0" algn="l">
              <a:lnSpc>
                <a:spcPct val="100000"/>
              </a:lnSpc>
              <a:spcBef>
                <a:spcPts val="0"/>
              </a:spcBef>
              <a:spcAft>
                <a:spcPts val="0"/>
              </a:spcAft>
              <a:buSzPts val="2000"/>
              <a:buChar char="–"/>
            </a:pPr>
            <a:r>
              <a:t/>
            </a:r>
            <a:endParaRPr b="1" sz="2000"/>
          </a:p>
        </p:txBody>
      </p:sp>
      <p:sp>
        <p:nvSpPr>
          <p:cNvPr id="184" name="Google Shape;184;p7"/>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85" name="Google Shape;185;p7"/>
          <p:cNvSpPr txBox="1"/>
          <p:nvPr/>
        </p:nvSpPr>
        <p:spPr>
          <a:xfrm>
            <a:off x="2191229" y="0"/>
            <a:ext cx="8146571" cy="1032933"/>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h50ca23903e8f00da_2_28"/>
          <p:cNvSpPr txBox="1"/>
          <p:nvPr>
            <p:ph idx="1" type="body"/>
          </p:nvPr>
        </p:nvSpPr>
        <p:spPr>
          <a:xfrm>
            <a:off x="274000" y="1100000"/>
            <a:ext cx="11640000" cy="5247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IN" sz="2000">
                <a:solidFill>
                  <a:srgbClr val="1D3972"/>
                </a:solidFill>
                <a:latin typeface="Arial"/>
                <a:ea typeface="Arial"/>
                <a:cs typeface="Arial"/>
                <a:sym typeface="Arial"/>
              </a:rPr>
              <a:t>1. What are CQDs?</a:t>
            </a:r>
            <a:endParaRPr b="1" sz="2000">
              <a:solidFill>
                <a:srgbClr val="1D3972"/>
              </a:solidFill>
              <a:latin typeface="Arial"/>
              <a:ea typeface="Arial"/>
              <a:cs typeface="Arial"/>
              <a:sym typeface="Arial"/>
            </a:endParaRPr>
          </a:p>
          <a:p>
            <a:pPr indent="0" lvl="0" marL="0" rtl="0" algn="l">
              <a:lnSpc>
                <a:spcPct val="115000"/>
              </a:lnSpc>
              <a:spcBef>
                <a:spcPts val="1200"/>
              </a:spcBef>
              <a:spcAft>
                <a:spcPts val="0"/>
              </a:spcAft>
              <a:buNone/>
            </a:pPr>
            <a:r>
              <a:rPr lang="en-IN" sz="2000">
                <a:solidFill>
                  <a:schemeClr val="dk1"/>
                </a:solidFill>
                <a:latin typeface="Arial"/>
                <a:ea typeface="Arial"/>
                <a:cs typeface="Arial"/>
                <a:sym typeface="Arial"/>
              </a:rPr>
              <a:t>Carbon Quantum Dots (CQDs) are tiny carbon-based nanoparticles, generally less than 10 nm in size. They exhibit unique optical properties, including fluorescence, meaning they can emit light when excited by a suitable light source.</a:t>
            </a:r>
            <a:endParaRPr sz="2000">
              <a:solidFill>
                <a:schemeClr val="dk1"/>
              </a:solidFill>
              <a:latin typeface="Arial"/>
              <a:ea typeface="Arial"/>
              <a:cs typeface="Arial"/>
              <a:sym typeface="Arial"/>
            </a:endParaRPr>
          </a:p>
          <a:p>
            <a:pPr indent="0" lvl="0" marL="0" rtl="0" algn="l">
              <a:lnSpc>
                <a:spcPct val="115000"/>
              </a:lnSpc>
              <a:spcBef>
                <a:spcPts val="1400"/>
              </a:spcBef>
              <a:spcAft>
                <a:spcPts val="0"/>
              </a:spcAft>
              <a:buNone/>
            </a:pPr>
            <a:r>
              <a:rPr b="1" lang="en-IN" sz="2000">
                <a:solidFill>
                  <a:srgbClr val="1D3972"/>
                </a:solidFill>
                <a:latin typeface="Arial"/>
                <a:ea typeface="Arial"/>
                <a:cs typeface="Arial"/>
                <a:sym typeface="Arial"/>
              </a:rPr>
              <a:t>2. Preparation of CQDs</a:t>
            </a:r>
            <a:endParaRPr b="1" sz="2000">
              <a:solidFill>
                <a:srgbClr val="1D3972"/>
              </a:solidFill>
              <a:latin typeface="Arial"/>
              <a:ea typeface="Arial"/>
              <a:cs typeface="Arial"/>
              <a:sym typeface="Arial"/>
            </a:endParaRPr>
          </a:p>
          <a:p>
            <a:pPr indent="-355600" lvl="0" marL="457200" rtl="0" algn="l">
              <a:lnSpc>
                <a:spcPct val="100000"/>
              </a:lnSpc>
              <a:spcBef>
                <a:spcPts val="1200"/>
              </a:spcBef>
              <a:spcAft>
                <a:spcPts val="0"/>
              </a:spcAft>
              <a:buClr>
                <a:schemeClr val="dk1"/>
              </a:buClr>
              <a:buSzPts val="2000"/>
              <a:buFont typeface="Arial"/>
              <a:buChar char="●"/>
            </a:pPr>
            <a:r>
              <a:rPr lang="en-IN" sz="2000">
                <a:solidFill>
                  <a:schemeClr val="dk1"/>
                </a:solidFill>
                <a:latin typeface="Arial"/>
                <a:ea typeface="Arial"/>
                <a:cs typeface="Arial"/>
                <a:sym typeface="Arial"/>
              </a:rPr>
              <a:t>Dissolve citric acid and urea in distilled water to prepare a uniform solution.</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Heat the solution using microwave-assisted synthesis protocol.</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Allow the reaction mixture to cool safely.</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Filter or centrifuge the mixture to remove larger particles and impurities.</a:t>
            </a:r>
            <a:endParaRPr sz="2000">
              <a:solidFill>
                <a:schemeClr val="dk1"/>
              </a:solidFill>
              <a:latin typeface="Arial"/>
              <a:ea typeface="Arial"/>
              <a:cs typeface="Arial"/>
              <a:sym typeface="Arial"/>
            </a:endParaRPr>
          </a:p>
          <a:p>
            <a:pPr indent="-355600" lvl="0" marL="457200" rtl="0" algn="l">
              <a:lnSpc>
                <a:spcPct val="100000"/>
              </a:lnSpc>
              <a:spcBef>
                <a:spcPts val="0"/>
              </a:spcBef>
              <a:spcAft>
                <a:spcPts val="0"/>
              </a:spcAft>
              <a:buClr>
                <a:schemeClr val="dk1"/>
              </a:buClr>
              <a:buSzPts val="2000"/>
              <a:buFont typeface="Arial"/>
              <a:buChar char="●"/>
            </a:pPr>
            <a:r>
              <a:rPr lang="en-IN" sz="2000">
                <a:solidFill>
                  <a:schemeClr val="dk1"/>
                </a:solidFill>
                <a:latin typeface="Arial"/>
                <a:ea typeface="Arial"/>
                <a:cs typeface="Arial"/>
                <a:sym typeface="Arial"/>
              </a:rPr>
              <a:t>Purify the resulting solution, using dialysis if required, to remove unreacted chemicals and small by-products.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latin typeface="Arial"/>
                <a:ea typeface="Arial"/>
                <a:cs typeface="Arial"/>
                <a:sym typeface="Arial"/>
              </a:rPr>
              <a:t>Test the purified solution under a suitable UV light source to check for fluorescence.</a:t>
            </a:r>
            <a:endParaRPr sz="20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t/>
            </a:r>
            <a:endParaRPr sz="20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t/>
            </a:r>
            <a:endParaRPr sz="2000">
              <a:solidFill>
                <a:schemeClr val="dk1"/>
              </a:solidFill>
              <a:latin typeface="Arial"/>
              <a:ea typeface="Arial"/>
              <a:cs typeface="Arial"/>
              <a:sym typeface="Arial"/>
            </a:endParaRPr>
          </a:p>
          <a:p>
            <a:pPr indent="0" lvl="0" marL="0" rtl="0" algn="l">
              <a:lnSpc>
                <a:spcPct val="90000"/>
              </a:lnSpc>
              <a:spcBef>
                <a:spcPts val="1200"/>
              </a:spcBef>
              <a:spcAft>
                <a:spcPts val="0"/>
              </a:spcAft>
              <a:buNone/>
            </a:pPr>
            <a:r>
              <a:t/>
            </a:r>
            <a:endParaRPr sz="2000">
              <a:solidFill>
                <a:srgbClr val="262626"/>
              </a:solidFill>
            </a:endParaRPr>
          </a:p>
        </p:txBody>
      </p:sp>
      <p:sp>
        <p:nvSpPr>
          <p:cNvPr id="191" name="Google Shape;191;h50ca23903e8f00da_2_28"/>
          <p:cNvSpPr txBox="1"/>
          <p:nvPr>
            <p:ph idx="12" type="sldNum"/>
          </p:nvPr>
        </p:nvSpPr>
        <p:spPr>
          <a:xfrm>
            <a:off x="9273988" y="634720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92" name="Google Shape;192;h50ca23903e8f00da_2_28"/>
          <p:cNvSpPr txBox="1"/>
          <p:nvPr/>
        </p:nvSpPr>
        <p:spPr>
          <a:xfrm>
            <a:off x="2191229" y="0"/>
            <a:ext cx="8146500" cy="1032900"/>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IN" sz="4000">
                <a:solidFill>
                  <a:srgbClr val="C00000"/>
                </a:solidFill>
                <a:latin typeface="Bookman Old Style"/>
                <a:ea typeface="Bookman Old Style"/>
                <a:cs typeface="Bookman Old Style"/>
                <a:sym typeface="Bookman Old Style"/>
              </a:rPr>
              <a:t>The Carbon Quantum Dot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h50ca23903e8f00da_4_38"/>
          <p:cNvSpPr txBox="1"/>
          <p:nvPr>
            <p:ph idx="1" type="body"/>
          </p:nvPr>
        </p:nvSpPr>
        <p:spPr>
          <a:xfrm>
            <a:off x="174825" y="1095200"/>
            <a:ext cx="11842500" cy="5082000"/>
          </a:xfrm>
          <a:prstGeom prst="rect">
            <a:avLst/>
          </a:prstGeom>
        </p:spPr>
        <p:txBody>
          <a:bodyPr anchorCtr="0" anchor="t" bIns="45700" lIns="91425" spcFirstLastPara="1" rIns="91425" wrap="square" tIns="45700">
            <a:normAutofit/>
          </a:bodyPr>
          <a:lstStyle/>
          <a:p>
            <a:pPr indent="0" lvl="0" marL="0" marR="0" rtl="0" algn="l">
              <a:lnSpc>
                <a:spcPct val="115000"/>
              </a:lnSpc>
              <a:spcBef>
                <a:spcPts val="1400"/>
              </a:spcBef>
              <a:spcAft>
                <a:spcPts val="0"/>
              </a:spcAft>
              <a:buNone/>
            </a:pPr>
            <a:r>
              <a:rPr b="1" lang="en-IN" sz="2000">
                <a:solidFill>
                  <a:srgbClr val="1D3972"/>
                </a:solidFill>
                <a:latin typeface="Arial"/>
                <a:ea typeface="Arial"/>
                <a:cs typeface="Arial"/>
                <a:sym typeface="Arial"/>
              </a:rPr>
              <a:t>3. Role of CQDs in Our Project</a:t>
            </a:r>
            <a:endParaRPr b="1" sz="2000">
              <a:solidFill>
                <a:srgbClr val="1D3972"/>
              </a:solidFill>
              <a:latin typeface="Arial"/>
              <a:ea typeface="Arial"/>
              <a:cs typeface="Arial"/>
              <a:sym typeface="Arial"/>
            </a:endParaRPr>
          </a:p>
          <a:p>
            <a:pPr indent="0" lvl="0" marL="0" marR="0" rtl="0" algn="l">
              <a:lnSpc>
                <a:spcPct val="115000"/>
              </a:lnSpc>
              <a:spcBef>
                <a:spcPts val="1400"/>
              </a:spcBef>
              <a:spcAft>
                <a:spcPts val="0"/>
              </a:spcAft>
              <a:buNone/>
            </a:pPr>
            <a:r>
              <a:rPr lang="en-IN" sz="2000">
                <a:solidFill>
                  <a:schemeClr val="dk1"/>
                </a:solidFill>
                <a:latin typeface="Arial"/>
                <a:ea typeface="Arial"/>
                <a:cs typeface="Arial"/>
                <a:sym typeface="Arial"/>
              </a:rPr>
              <a:t>In our Quantum-Dot-Based Optical Fingerprinting System for Product Authentication, CQDs act as a fluorescent security marker. The 365 nm UV light excites the CQD particles causing it to emit visible light captured later by RGB sensor.</a:t>
            </a:r>
            <a:endParaRPr sz="2000">
              <a:solidFill>
                <a:schemeClr val="dk1"/>
              </a:solidFill>
              <a:latin typeface="Arial"/>
              <a:ea typeface="Arial"/>
              <a:cs typeface="Arial"/>
              <a:sym typeface="Arial"/>
            </a:endParaRPr>
          </a:p>
          <a:p>
            <a:pPr indent="0" lvl="0" marL="0" marR="0" rtl="0" algn="l">
              <a:lnSpc>
                <a:spcPct val="115000"/>
              </a:lnSpc>
              <a:spcBef>
                <a:spcPts val="1200"/>
              </a:spcBef>
              <a:spcAft>
                <a:spcPts val="1200"/>
              </a:spcAft>
              <a:buNone/>
            </a:pPr>
            <a:r>
              <a:t/>
            </a:r>
            <a:endParaRPr sz="2000">
              <a:solidFill>
                <a:schemeClr val="dk1"/>
              </a:solidFill>
              <a:latin typeface="Arial"/>
              <a:ea typeface="Arial"/>
              <a:cs typeface="Arial"/>
              <a:sym typeface="Arial"/>
            </a:endParaRPr>
          </a:p>
        </p:txBody>
      </p:sp>
      <p:sp>
        <p:nvSpPr>
          <p:cNvPr id="199" name="Google Shape;199;h50ca23903e8f00da_4_38"/>
          <p:cNvSpPr txBox="1"/>
          <p:nvPr>
            <p:ph idx="12" type="sldNum"/>
          </p:nvPr>
        </p:nvSpPr>
        <p:spPr>
          <a:xfrm>
            <a:off x="9273988" y="634720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b="0">
              <a:solidFill>
                <a:srgbClr val="888888"/>
              </a:solidFill>
              <a:latin typeface="Calibri"/>
              <a:ea typeface="Calibri"/>
              <a:cs typeface="Calibri"/>
              <a:sym typeface="Calibri"/>
            </a:endParaRPr>
          </a:p>
        </p:txBody>
      </p:sp>
      <p:pic>
        <p:nvPicPr>
          <p:cNvPr id="200" name="Google Shape;200;h50ca23903e8f00da_4_38"/>
          <p:cNvPicPr preferRelativeResize="0"/>
          <p:nvPr/>
        </p:nvPicPr>
        <p:blipFill>
          <a:blip r:embed="rId3">
            <a:alphaModFix/>
          </a:blip>
          <a:stretch>
            <a:fillRect/>
          </a:stretch>
        </p:blipFill>
        <p:spPr>
          <a:xfrm>
            <a:off x="305700" y="2854950"/>
            <a:ext cx="4983325" cy="3322250"/>
          </a:xfrm>
          <a:prstGeom prst="rect">
            <a:avLst/>
          </a:prstGeom>
          <a:noFill/>
          <a:ln>
            <a:noFill/>
          </a:ln>
        </p:spPr>
      </p:pic>
      <p:pic>
        <p:nvPicPr>
          <p:cNvPr id="201" name="Google Shape;201;h50ca23903e8f00da_4_38"/>
          <p:cNvPicPr preferRelativeResize="0"/>
          <p:nvPr/>
        </p:nvPicPr>
        <p:blipFill>
          <a:blip r:embed="rId4">
            <a:alphaModFix/>
          </a:blip>
          <a:stretch>
            <a:fillRect/>
          </a:stretch>
        </p:blipFill>
        <p:spPr>
          <a:xfrm>
            <a:off x="6715150" y="2854950"/>
            <a:ext cx="4576125" cy="3062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h49217a08e3776f8a_2_21"/>
          <p:cNvSpPr txBox="1"/>
          <p:nvPr>
            <p:ph idx="1" type="body"/>
          </p:nvPr>
        </p:nvSpPr>
        <p:spPr>
          <a:xfrm>
            <a:off x="174750" y="1213300"/>
            <a:ext cx="11842500" cy="51339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IN"/>
              <a:t>•</a:t>
            </a:r>
            <a:r>
              <a:rPr lang="en-IN" sz="2600"/>
              <a:t> 	</a:t>
            </a:r>
            <a:r>
              <a:rPr b="1" lang="en-IN" sz="2200"/>
              <a:t>365 nm UV LED</a:t>
            </a:r>
            <a:r>
              <a:rPr lang="en-IN" sz="2200"/>
              <a:t>: Provides excitation light to stimulate fluorescence from the carbon    quantum dots.</a:t>
            </a:r>
            <a:endParaRPr sz="2200"/>
          </a:p>
          <a:p>
            <a:pPr indent="0" lvl="0" marL="0" rtl="0" algn="l">
              <a:spcBef>
                <a:spcPts val="1000"/>
              </a:spcBef>
              <a:spcAft>
                <a:spcPts val="0"/>
              </a:spcAft>
              <a:buNone/>
            </a:pPr>
            <a:r>
              <a:rPr lang="en-IN"/>
              <a:t>•	</a:t>
            </a:r>
            <a:r>
              <a:rPr b="1" lang="en-IN" sz="2200">
                <a:solidFill>
                  <a:srgbClr val="1D3972"/>
                </a:solidFill>
              </a:rPr>
              <a:t>TCS34725 </a:t>
            </a:r>
            <a:r>
              <a:rPr b="1" lang="en-IN" sz="2200"/>
              <a:t>RGB Sensor</a:t>
            </a:r>
            <a:r>
              <a:rPr lang="en-IN" sz="2200"/>
              <a:t>: Measures the emitted light's red, green, and blue channel responses.</a:t>
            </a:r>
            <a:endParaRPr sz="2200"/>
          </a:p>
          <a:p>
            <a:pPr indent="0" lvl="0" marL="0" rtl="0" algn="l">
              <a:spcBef>
                <a:spcPts val="1000"/>
              </a:spcBef>
              <a:spcAft>
                <a:spcPts val="0"/>
              </a:spcAft>
              <a:buNone/>
            </a:pPr>
            <a:r>
              <a:rPr lang="en-IN"/>
              <a:t>•</a:t>
            </a:r>
            <a:r>
              <a:rPr lang="en-IN" sz="2200"/>
              <a:t> 	</a:t>
            </a:r>
            <a:r>
              <a:rPr b="1" lang="en-IN" sz="2200"/>
              <a:t>ESP32 Microcontroller</a:t>
            </a:r>
            <a:r>
              <a:rPr lang="en-IN" sz="2200"/>
              <a:t>: Collects sensor readings, processes optical features, and manages the system's operation.</a:t>
            </a:r>
            <a:endParaRPr sz="2200"/>
          </a:p>
          <a:p>
            <a:pPr indent="0" lvl="0" marL="0" rtl="0" algn="l">
              <a:spcBef>
                <a:spcPts val="1000"/>
              </a:spcBef>
              <a:spcAft>
                <a:spcPts val="0"/>
              </a:spcAft>
              <a:buNone/>
            </a:pPr>
            <a:r>
              <a:rPr lang="en-IN"/>
              <a:t>•</a:t>
            </a:r>
            <a:r>
              <a:rPr lang="en-IN" sz="2200"/>
              <a:t> 	</a:t>
            </a:r>
            <a:r>
              <a:rPr b="1" lang="en-IN" sz="2200">
                <a:solidFill>
                  <a:srgbClr val="395284"/>
                </a:solidFill>
              </a:rPr>
              <a:t>0.96-inch I²C</a:t>
            </a:r>
            <a:r>
              <a:rPr lang="en-IN" sz="2200"/>
              <a:t> </a:t>
            </a:r>
            <a:r>
              <a:rPr b="1" lang="en-IN" sz="2200"/>
              <a:t>OLED Display</a:t>
            </a:r>
            <a:r>
              <a:rPr lang="en-IN" sz="2200"/>
              <a:t>: Displays the optical readings and authentication result.</a:t>
            </a:r>
            <a:endParaRPr sz="2200"/>
          </a:p>
          <a:p>
            <a:pPr indent="0" lvl="0" marL="0" rtl="0" algn="l">
              <a:spcBef>
                <a:spcPts val="1000"/>
              </a:spcBef>
              <a:spcAft>
                <a:spcPts val="0"/>
              </a:spcAft>
              <a:buNone/>
            </a:pPr>
            <a:r>
              <a:rPr lang="en-IN"/>
              <a:t>•</a:t>
            </a:r>
            <a:r>
              <a:rPr lang="en-IN" sz="2200"/>
              <a:t> 	</a:t>
            </a:r>
            <a:r>
              <a:rPr b="1" lang="en-IN" sz="2200"/>
              <a:t>Carbon Quantum Dots (CQDs)</a:t>
            </a:r>
            <a:r>
              <a:rPr lang="en-IN" sz="2200"/>
              <a:t>:Synthesized from citric acid and urea to serve as the fluorescent optical tags.</a:t>
            </a:r>
            <a:endParaRPr sz="2200"/>
          </a:p>
          <a:p>
            <a:pPr indent="0" lvl="0" marL="0" rtl="0" algn="l">
              <a:spcBef>
                <a:spcPts val="1000"/>
              </a:spcBef>
              <a:spcAft>
                <a:spcPts val="0"/>
              </a:spcAft>
              <a:buNone/>
            </a:pPr>
            <a:r>
              <a:rPr lang="en-IN"/>
              <a:t>• 	</a:t>
            </a:r>
            <a:r>
              <a:rPr b="1" lang="en-IN" sz="2200"/>
              <a:t>Custom 3D-Printed Dark Box</a:t>
            </a:r>
            <a:r>
              <a:rPr lang="en-IN" sz="2200"/>
              <a:t>: Provides a controlled measurement environment and consistent tag positioning.</a:t>
            </a:r>
            <a:endParaRPr sz="2200"/>
          </a:p>
          <a:p>
            <a:pPr indent="0" lvl="0" marL="0" rtl="0" algn="l">
              <a:spcBef>
                <a:spcPts val="1000"/>
              </a:spcBef>
              <a:spcAft>
                <a:spcPts val="0"/>
              </a:spcAft>
              <a:buNone/>
            </a:pPr>
            <a:r>
              <a:t/>
            </a:r>
            <a:endParaRPr/>
          </a:p>
        </p:txBody>
      </p:sp>
      <p:sp>
        <p:nvSpPr>
          <p:cNvPr id="208" name="Google Shape;208;h49217a08e3776f8a_2_21"/>
          <p:cNvSpPr txBox="1"/>
          <p:nvPr>
            <p:ph idx="12" type="sldNum"/>
          </p:nvPr>
        </p:nvSpPr>
        <p:spPr>
          <a:xfrm>
            <a:off x="9273988" y="634720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b="0">
              <a:solidFill>
                <a:srgbClr val="888888"/>
              </a:solidFill>
              <a:latin typeface="Calibri"/>
              <a:ea typeface="Calibri"/>
              <a:cs typeface="Calibri"/>
              <a:sym typeface="Calibri"/>
            </a:endParaRPr>
          </a:p>
        </p:txBody>
      </p:sp>
      <p:sp>
        <p:nvSpPr>
          <p:cNvPr id="209" name="Google Shape;209;h49217a08e3776f8a_2_21"/>
          <p:cNvSpPr txBox="1"/>
          <p:nvPr/>
        </p:nvSpPr>
        <p:spPr>
          <a:xfrm>
            <a:off x="2814200" y="216475"/>
            <a:ext cx="8334300" cy="57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200"/>
              </a:spcAft>
              <a:buClr>
                <a:schemeClr val="dk1"/>
              </a:buClr>
              <a:buSzPts val="1100"/>
              <a:buFont typeface="Arial"/>
              <a:buNone/>
            </a:pPr>
            <a:r>
              <a:rPr b="1" lang="en-IN" sz="4000">
                <a:solidFill>
                  <a:srgbClr val="C00000"/>
                </a:solidFill>
                <a:latin typeface="Bookman Old Style"/>
                <a:ea typeface="Bookman Old Style"/>
                <a:cs typeface="Bookman Old Style"/>
                <a:sym typeface="Bookman Old Style"/>
              </a:rPr>
              <a:t>Hardware and Materials</a:t>
            </a:r>
            <a:endParaRPr b="1" sz="4000">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txBox="1"/>
          <p:nvPr>
            <p:ph idx="1" type="body"/>
          </p:nvPr>
        </p:nvSpPr>
        <p:spPr>
          <a:xfrm>
            <a:off x="276000" y="1347725"/>
            <a:ext cx="11640000" cy="51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IN" sz="2200">
                <a:solidFill>
                  <a:schemeClr val="dk1"/>
                </a:solidFill>
              </a:rPr>
              <a:t>1.⁠ ⁠</a:t>
            </a:r>
            <a:r>
              <a:rPr b="1" lang="en-IN" sz="2200">
                <a:solidFill>
                  <a:srgbClr val="1D3972"/>
                </a:solidFill>
              </a:rPr>
              <a:t>Optical Tag Preparation</a:t>
            </a:r>
            <a:endParaRPr b="1" sz="2200">
              <a:solidFill>
                <a:srgbClr val="1D3972"/>
              </a:solidFill>
            </a:endParaRPr>
          </a:p>
          <a:p>
            <a:pPr indent="0" lvl="0" marL="457200" rtl="0" algn="l">
              <a:lnSpc>
                <a:spcPct val="115000"/>
              </a:lnSpc>
              <a:spcBef>
                <a:spcPts val="1200"/>
              </a:spcBef>
              <a:spcAft>
                <a:spcPts val="0"/>
              </a:spcAft>
              <a:buNone/>
            </a:pPr>
            <a:r>
              <a:rPr lang="en-IN" sz="2200">
                <a:solidFill>
                  <a:schemeClr val="dk1"/>
                </a:solidFill>
              </a:rPr>
              <a:t>•⁠  ⁠Prepare or obtain fluorescent carbon quantum dots under faculty supervision.</a:t>
            </a:r>
            <a:endParaRPr sz="2200">
              <a:solidFill>
                <a:schemeClr val="dk1"/>
              </a:solidFill>
            </a:endParaRPr>
          </a:p>
          <a:p>
            <a:pPr indent="457200" lvl="0" marL="0" rtl="0" algn="l">
              <a:lnSpc>
                <a:spcPct val="115000"/>
              </a:lnSpc>
              <a:spcBef>
                <a:spcPts val="1200"/>
              </a:spcBef>
              <a:spcAft>
                <a:spcPts val="0"/>
              </a:spcAft>
              <a:buNone/>
            </a:pPr>
            <a:r>
              <a:rPr lang="en-IN" sz="2200">
                <a:solidFill>
                  <a:schemeClr val="dk1"/>
                </a:solidFill>
              </a:rPr>
              <a:t>•⁠  ⁠Apply the material to a suitable tag or test surface.</a:t>
            </a:r>
            <a:endParaRPr sz="2200">
              <a:solidFill>
                <a:schemeClr val="dk1"/>
              </a:solidFill>
            </a:endParaRPr>
          </a:p>
          <a:p>
            <a:pPr indent="457200" lvl="0" marL="0" rtl="0" algn="l">
              <a:lnSpc>
                <a:spcPct val="115000"/>
              </a:lnSpc>
              <a:spcBef>
                <a:spcPts val="1200"/>
              </a:spcBef>
              <a:spcAft>
                <a:spcPts val="0"/>
              </a:spcAft>
              <a:buNone/>
            </a:pPr>
            <a:r>
              <a:rPr lang="en-IN" sz="2200">
                <a:solidFill>
                  <a:schemeClr val="dk1"/>
                </a:solidFill>
              </a:rPr>
              <a:t>•⁠  ⁠Illuminate the tag using a controlled UV light source.</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2200">
                <a:solidFill>
                  <a:schemeClr val="dk1"/>
                </a:solidFill>
              </a:rPr>
              <a:t>2.⁠ ⁠</a:t>
            </a:r>
            <a:r>
              <a:rPr b="1" lang="en-IN" sz="2200">
                <a:solidFill>
                  <a:srgbClr val="1D3972"/>
                </a:solidFill>
              </a:rPr>
              <a:t>Hardware Development</a:t>
            </a:r>
            <a:endParaRPr b="1" sz="2200">
              <a:solidFill>
                <a:srgbClr val="1D3972"/>
              </a:solidFill>
            </a:endParaRPr>
          </a:p>
          <a:p>
            <a:pPr indent="457200" lvl="0" marL="0" rtl="0" algn="l">
              <a:lnSpc>
                <a:spcPct val="115000"/>
              </a:lnSpc>
              <a:spcBef>
                <a:spcPts val="1200"/>
              </a:spcBef>
              <a:spcAft>
                <a:spcPts val="0"/>
              </a:spcAft>
              <a:buClr>
                <a:schemeClr val="dk1"/>
              </a:buClr>
              <a:buSzPts val="1100"/>
              <a:buFont typeface="Arial"/>
              <a:buNone/>
            </a:pPr>
            <a:r>
              <a:rPr lang="en-IN" sz="2200">
                <a:solidFill>
                  <a:schemeClr val="dk1"/>
                </a:solidFill>
              </a:rPr>
              <a:t>•⁠  ⁠Connect a TCS34725 RGB colour sensor to an ESP32 microcontroller.</a:t>
            </a:r>
            <a:endParaRPr sz="2200">
              <a:solidFill>
                <a:schemeClr val="dk1"/>
              </a:solidFill>
            </a:endParaRPr>
          </a:p>
          <a:p>
            <a:pPr indent="457200" lvl="0" marL="0" rtl="0" algn="l">
              <a:lnSpc>
                <a:spcPct val="115000"/>
              </a:lnSpc>
              <a:spcBef>
                <a:spcPts val="1200"/>
              </a:spcBef>
              <a:spcAft>
                <a:spcPts val="0"/>
              </a:spcAft>
              <a:buClr>
                <a:schemeClr val="dk1"/>
              </a:buClr>
              <a:buSzPts val="1100"/>
              <a:buFont typeface="Arial"/>
              <a:buNone/>
            </a:pPr>
            <a:r>
              <a:rPr lang="en-IN" sz="2200">
                <a:solidFill>
                  <a:schemeClr val="dk1"/>
                </a:solidFill>
              </a:rPr>
              <a:t>•⁠  ⁠Use a 365 nm UV LED as the excitation source.</a:t>
            </a:r>
            <a:endParaRPr sz="22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IN" sz="2200">
                <a:solidFill>
                  <a:schemeClr val="dk1"/>
                </a:solidFill>
              </a:rPr>
              <a:t>•⁠  ⁠Integrate the components into a dark enclosure to reduce ambient-light interference.</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200">
              <a:solidFill>
                <a:schemeClr val="dk1"/>
              </a:solidFill>
            </a:endParaRPr>
          </a:p>
          <a:p>
            <a:pPr indent="0" lvl="0" marL="0" rtl="0" algn="l">
              <a:lnSpc>
                <a:spcPct val="115000"/>
              </a:lnSpc>
              <a:spcBef>
                <a:spcPts val="1200"/>
              </a:spcBef>
              <a:spcAft>
                <a:spcPts val="0"/>
              </a:spcAft>
              <a:buNone/>
            </a:pPr>
            <a:r>
              <a:t/>
            </a:r>
            <a:endParaRPr sz="2200">
              <a:solidFill>
                <a:schemeClr val="dk1"/>
              </a:solidFill>
            </a:endParaRPr>
          </a:p>
          <a:p>
            <a:pPr indent="457200" lvl="0" marL="0" rtl="0" algn="l">
              <a:lnSpc>
                <a:spcPct val="115000"/>
              </a:lnSpc>
              <a:spcBef>
                <a:spcPts val="1200"/>
              </a:spcBef>
              <a:spcAft>
                <a:spcPts val="0"/>
              </a:spcAft>
              <a:buNone/>
            </a:pPr>
            <a:r>
              <a:t/>
            </a:r>
            <a:endParaRPr sz="2200">
              <a:solidFill>
                <a:schemeClr val="dk1"/>
              </a:solidFill>
            </a:endParaRPr>
          </a:p>
          <a:p>
            <a:pPr indent="0" lvl="0" marL="0" rtl="0" algn="l">
              <a:lnSpc>
                <a:spcPct val="115000"/>
              </a:lnSpc>
              <a:spcBef>
                <a:spcPts val="1200"/>
              </a:spcBef>
              <a:spcAft>
                <a:spcPts val="1200"/>
              </a:spcAft>
              <a:buNone/>
            </a:pPr>
            <a:r>
              <a:t/>
            </a:r>
            <a:endParaRPr b="1" sz="2400">
              <a:solidFill>
                <a:schemeClr val="dk1"/>
              </a:solidFill>
            </a:endParaRPr>
          </a:p>
        </p:txBody>
      </p:sp>
      <p:sp>
        <p:nvSpPr>
          <p:cNvPr id="215" name="Google Shape;215;p8"/>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16" name="Google Shape;216;p8"/>
          <p:cNvSpPr txBox="1"/>
          <p:nvPr/>
        </p:nvSpPr>
        <p:spPr>
          <a:xfrm>
            <a:off x="2232187" y="117350"/>
            <a:ext cx="8146500" cy="839400"/>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h49217a08e3776f8a_2_13"/>
          <p:cNvSpPr txBox="1"/>
          <p:nvPr>
            <p:ph idx="1" type="body"/>
          </p:nvPr>
        </p:nvSpPr>
        <p:spPr>
          <a:xfrm>
            <a:off x="174750" y="969600"/>
            <a:ext cx="11842500" cy="54960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IN" sz="1850">
                <a:solidFill>
                  <a:schemeClr val="dk1"/>
                </a:solidFill>
              </a:rPr>
              <a:t>3.⁠ </a:t>
            </a:r>
            <a:r>
              <a:rPr b="1" lang="en-IN" sz="1850">
                <a:solidFill>
                  <a:srgbClr val="1D3972"/>
                </a:solidFill>
              </a:rPr>
              <a:t>⁠Data Acquisition</a:t>
            </a:r>
            <a:endParaRPr b="1" sz="1850">
              <a:solidFill>
                <a:srgbClr val="1D3972"/>
              </a:solidFill>
            </a:endParaRPr>
          </a:p>
          <a:p>
            <a:pPr indent="0" lvl="0" marL="457200" rtl="0" algn="l">
              <a:lnSpc>
                <a:spcPct val="115000"/>
              </a:lnSpc>
              <a:spcBef>
                <a:spcPts val="1200"/>
              </a:spcBef>
              <a:spcAft>
                <a:spcPts val="0"/>
              </a:spcAft>
              <a:buClr>
                <a:schemeClr val="dk1"/>
              </a:buClr>
              <a:buSzPts val="1100"/>
              <a:buFont typeface="Arial"/>
              <a:buNone/>
            </a:pPr>
            <a:r>
              <a:rPr lang="en-IN" sz="1850">
                <a:solidFill>
                  <a:schemeClr val="dk1"/>
                </a:solidFill>
              </a:rPr>
              <a:t>•⁠  ⁠Illuminate each tag under consistent conditions.</a:t>
            </a:r>
            <a:endParaRPr sz="185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IN" sz="1850">
                <a:solidFill>
                  <a:schemeClr val="dk1"/>
                </a:solidFill>
              </a:rPr>
              <a:t>•⁠  ⁠Record the sensor's red, green and blue readings.</a:t>
            </a:r>
            <a:endParaRPr sz="185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IN" sz="1850">
                <a:solidFill>
                  <a:schemeClr val="dk1"/>
                </a:solidFill>
              </a:rPr>
              <a:t>•⁠  ⁠Repeat measurements to assess consistency.</a:t>
            </a:r>
            <a:endParaRPr sz="18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IN" sz="1850">
                <a:solidFill>
                  <a:schemeClr val="dk1"/>
                </a:solidFill>
              </a:rPr>
              <a:t>4.⁠ </a:t>
            </a:r>
            <a:r>
              <a:rPr b="1" lang="en-IN" sz="1850">
                <a:solidFill>
                  <a:schemeClr val="dk1"/>
                </a:solidFill>
              </a:rPr>
              <a:t>⁠</a:t>
            </a:r>
            <a:r>
              <a:rPr b="1" lang="en-IN" sz="1850">
                <a:solidFill>
                  <a:srgbClr val="1D3972"/>
                </a:solidFill>
              </a:rPr>
              <a:t>Fingerprint Generation</a:t>
            </a:r>
            <a:endParaRPr b="1" sz="1850">
              <a:solidFill>
                <a:srgbClr val="1D3972"/>
              </a:solidFill>
            </a:endParaRPr>
          </a:p>
          <a:p>
            <a:pPr indent="0" lvl="0" marL="457200" rtl="0" algn="l">
              <a:lnSpc>
                <a:spcPct val="115000"/>
              </a:lnSpc>
              <a:spcBef>
                <a:spcPts val="1200"/>
              </a:spcBef>
              <a:spcAft>
                <a:spcPts val="0"/>
              </a:spcAft>
              <a:buClr>
                <a:schemeClr val="dk1"/>
              </a:buClr>
              <a:buSzPts val="1100"/>
              <a:buFont typeface="Arial"/>
              <a:buNone/>
            </a:pPr>
            <a:r>
              <a:rPr lang="en-IN" sz="1850">
                <a:solidFill>
                  <a:schemeClr val="dk1"/>
                </a:solidFill>
              </a:rPr>
              <a:t>•⁠  ⁠Extract RGB values and useful colour ratios from the readings.</a:t>
            </a:r>
            <a:endParaRPr sz="185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IN" sz="1850">
                <a:solidFill>
                  <a:schemeClr val="dk1"/>
                </a:solidFill>
              </a:rPr>
              <a:t>•⁠  ⁠Store the reference readings for each registered sample in a database.</a:t>
            </a:r>
            <a:endParaRPr sz="185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IN" sz="1850">
                <a:solidFill>
                  <a:schemeClr val="dk1"/>
                </a:solidFill>
              </a:rPr>
              <a:t>•⁠  ⁠Use these readings as the sample's experimental optical fingerprint.</a:t>
            </a:r>
            <a:endParaRPr sz="1850">
              <a:solidFill>
                <a:schemeClr val="dk1"/>
              </a:solidFill>
            </a:endParaRPr>
          </a:p>
          <a:p>
            <a:pPr indent="0" lvl="0" marL="0" rtl="0" algn="l">
              <a:lnSpc>
                <a:spcPct val="115000"/>
              </a:lnSpc>
              <a:spcBef>
                <a:spcPts val="1200"/>
              </a:spcBef>
              <a:spcAft>
                <a:spcPts val="0"/>
              </a:spcAft>
              <a:buNone/>
            </a:pPr>
            <a:r>
              <a:rPr lang="en-IN" sz="1850">
                <a:solidFill>
                  <a:schemeClr val="dk1"/>
                </a:solidFill>
              </a:rPr>
              <a:t>5.⁠</a:t>
            </a:r>
            <a:r>
              <a:rPr lang="en-IN" sz="1850">
                <a:solidFill>
                  <a:srgbClr val="1D3972"/>
                </a:solidFill>
              </a:rPr>
              <a:t> </a:t>
            </a:r>
            <a:r>
              <a:rPr b="1" lang="en-IN" sz="1850">
                <a:solidFill>
                  <a:srgbClr val="1D3972"/>
                </a:solidFill>
              </a:rPr>
              <a:t>⁠Authentication and Evaluation</a:t>
            </a:r>
            <a:endParaRPr b="1" sz="1850">
              <a:solidFill>
                <a:srgbClr val="1D3972"/>
              </a:solidFill>
            </a:endParaRPr>
          </a:p>
          <a:p>
            <a:pPr indent="457200" lvl="0" marL="0" rtl="0" algn="l">
              <a:lnSpc>
                <a:spcPct val="115000"/>
              </a:lnSpc>
              <a:spcBef>
                <a:spcPts val="1200"/>
              </a:spcBef>
              <a:spcAft>
                <a:spcPts val="0"/>
              </a:spcAft>
              <a:buNone/>
            </a:pPr>
            <a:r>
              <a:rPr lang="en-IN" sz="1850">
                <a:solidFill>
                  <a:schemeClr val="dk1"/>
                </a:solidFill>
              </a:rPr>
              <a:t>•⁠  ⁠Compare a new reading with the registered reference data using a similarity score or     threshold.</a:t>
            </a:r>
            <a:endParaRPr sz="1850">
              <a:solidFill>
                <a:schemeClr val="dk1"/>
              </a:solidFill>
            </a:endParaRPr>
          </a:p>
          <a:p>
            <a:pPr indent="457200" lvl="0" marL="0" rtl="0" algn="l">
              <a:lnSpc>
                <a:spcPct val="115000"/>
              </a:lnSpc>
              <a:spcBef>
                <a:spcPts val="1200"/>
              </a:spcBef>
              <a:spcAft>
                <a:spcPts val="0"/>
              </a:spcAft>
              <a:buNone/>
            </a:pPr>
            <a:r>
              <a:rPr lang="en-IN" sz="1850">
                <a:solidFill>
                  <a:schemeClr val="dk1"/>
                </a:solidFill>
              </a:rPr>
              <a:t>•⁠  ⁠Display “Match” or “Unknown” on the OLED screen.</a:t>
            </a:r>
            <a:endParaRPr sz="1850">
              <a:solidFill>
                <a:schemeClr val="dk1"/>
              </a:solidFill>
            </a:endParaRPr>
          </a:p>
          <a:p>
            <a:pPr indent="0" lvl="0" marL="0" rtl="0" algn="l">
              <a:lnSpc>
                <a:spcPct val="115000"/>
              </a:lnSpc>
              <a:spcBef>
                <a:spcPts val="1200"/>
              </a:spcBef>
              <a:spcAft>
                <a:spcPts val="0"/>
              </a:spcAft>
              <a:buNone/>
            </a:pPr>
            <a:r>
              <a:t/>
            </a:r>
            <a:endParaRPr sz="185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850">
              <a:solidFill>
                <a:schemeClr val="dk1"/>
              </a:solidFill>
            </a:endParaRPr>
          </a:p>
          <a:p>
            <a:pPr indent="0" lvl="0" marL="457200" rtl="0" algn="l">
              <a:lnSpc>
                <a:spcPct val="115000"/>
              </a:lnSpc>
              <a:spcBef>
                <a:spcPts val="1200"/>
              </a:spcBef>
              <a:spcAft>
                <a:spcPts val="0"/>
              </a:spcAft>
              <a:buNone/>
            </a:pPr>
            <a:r>
              <a:t/>
            </a:r>
            <a:endParaRPr sz="1850">
              <a:solidFill>
                <a:schemeClr val="dk1"/>
              </a:solidFill>
            </a:endParaRPr>
          </a:p>
          <a:p>
            <a:pPr indent="0" lvl="0" marL="0" rtl="0" algn="l">
              <a:spcBef>
                <a:spcPts val="1200"/>
              </a:spcBef>
              <a:spcAft>
                <a:spcPts val="0"/>
              </a:spcAft>
              <a:buNone/>
            </a:pPr>
            <a:r>
              <a:t/>
            </a:r>
            <a:endParaRPr sz="1850"/>
          </a:p>
        </p:txBody>
      </p:sp>
      <p:sp>
        <p:nvSpPr>
          <p:cNvPr id="223" name="Google Shape;223;h49217a08e3776f8a_2_13"/>
          <p:cNvSpPr txBox="1"/>
          <p:nvPr>
            <p:ph idx="12" type="sldNum"/>
          </p:nvPr>
        </p:nvSpPr>
        <p:spPr>
          <a:xfrm>
            <a:off x="9273988" y="634720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b="0">
              <a:solidFill>
                <a:srgbClr val="88888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h50ca23903e8f00da_4_22"/>
          <p:cNvSpPr txBox="1"/>
          <p:nvPr>
            <p:ph idx="1" type="body"/>
          </p:nvPr>
        </p:nvSpPr>
        <p:spPr>
          <a:xfrm>
            <a:off x="174813" y="1258282"/>
            <a:ext cx="11842500" cy="4918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230" name="Google Shape;230;h50ca23903e8f00da_4_22"/>
          <p:cNvSpPr txBox="1"/>
          <p:nvPr>
            <p:ph idx="12" type="sldNum"/>
          </p:nvPr>
        </p:nvSpPr>
        <p:spPr>
          <a:xfrm>
            <a:off x="9273988" y="634720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b="0">
              <a:solidFill>
                <a:srgbClr val="888888"/>
              </a:solidFill>
              <a:latin typeface="Calibri"/>
              <a:ea typeface="Calibri"/>
              <a:cs typeface="Calibri"/>
              <a:sym typeface="Calibri"/>
            </a:endParaRPr>
          </a:p>
        </p:txBody>
      </p:sp>
      <p:pic>
        <p:nvPicPr>
          <p:cNvPr id="231" name="Google Shape;231;h50ca23903e8f00da_4_22"/>
          <p:cNvPicPr preferRelativeResize="0"/>
          <p:nvPr/>
        </p:nvPicPr>
        <p:blipFill>
          <a:blip r:embed="rId3">
            <a:alphaModFix/>
          </a:blip>
          <a:stretch>
            <a:fillRect/>
          </a:stretch>
        </p:blipFill>
        <p:spPr>
          <a:xfrm>
            <a:off x="69614" y="39113"/>
            <a:ext cx="12052932" cy="67797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2"/>
          <p:cNvSpPr txBox="1"/>
          <p:nvPr>
            <p:ph idx="1" type="body"/>
          </p:nvPr>
        </p:nvSpPr>
        <p:spPr>
          <a:xfrm>
            <a:off x="276000" y="1247200"/>
            <a:ext cx="11640000" cy="51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IN" sz="2200"/>
              <a:t>•</a:t>
            </a:r>
            <a:r>
              <a:rPr b="1" lang="en-IN" sz="2200">
                <a:solidFill>
                  <a:srgbClr val="263543"/>
                </a:solidFill>
              </a:rPr>
              <a:t>Weeks 1–2 | Initiation: </a:t>
            </a:r>
            <a:r>
              <a:rPr lang="en-IN" sz="2200">
                <a:solidFill>
                  <a:srgbClr val="263543"/>
                </a:solidFill>
              </a:rPr>
              <a:t>Finalize the research question, review literature, confirm component availability and agree on safe sample materials.</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rPr lang="en-IN" sz="2200"/>
              <a:t>•</a:t>
            </a:r>
            <a:r>
              <a:rPr b="1" lang="en-IN" sz="2200">
                <a:solidFill>
                  <a:srgbClr val="263543"/>
                </a:solidFill>
              </a:rPr>
              <a:t>Weeks 3–4 | Planning: </a:t>
            </a:r>
            <a:r>
              <a:rPr lang="en-IN" sz="2200">
                <a:solidFill>
                  <a:srgbClr val="263543"/>
                </a:solidFill>
              </a:rPr>
              <a:t>Complete circuit and enclosure design, prepare a detailed BOM, assign team roles and define the measurement protocol.</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rPr lang="en-IN" sz="2200"/>
              <a:t>•</a:t>
            </a:r>
            <a:r>
              <a:rPr b="1" lang="en-IN" sz="2200">
                <a:solidFill>
                  <a:srgbClr val="263543"/>
                </a:solidFill>
              </a:rPr>
              <a:t>Weeks 5–6 | Build: </a:t>
            </a:r>
            <a:r>
              <a:rPr lang="en-IN" sz="2200">
                <a:solidFill>
                  <a:srgbClr val="263543"/>
                </a:solidFill>
              </a:rPr>
              <a:t>Assemble LED, sensor, ESP32 and OLED; test communication and create a light-shielded housing.</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rPr lang="en-IN" sz="2200"/>
              <a:t>•</a:t>
            </a:r>
            <a:r>
              <a:rPr b="1" lang="en-IN" sz="2200">
                <a:solidFill>
                  <a:srgbClr val="263543"/>
                </a:solidFill>
              </a:rPr>
              <a:t>Weeks 7–8 | Software: </a:t>
            </a:r>
            <a:r>
              <a:rPr lang="en-IN" sz="2200">
                <a:solidFill>
                  <a:srgbClr val="263543"/>
                </a:solidFill>
              </a:rPr>
              <a:t>Develop sensor-reading firmware, CSV logging, feature extraction and reference matching.</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rPr lang="en-IN" sz="2200"/>
              <a:t>•</a:t>
            </a:r>
            <a:r>
              <a:rPr b="1" lang="en-IN" sz="2200">
                <a:solidFill>
                  <a:srgbClr val="263543"/>
                </a:solidFill>
              </a:rPr>
              <a:t>Weeks 9–10 | Experiments: </a:t>
            </a:r>
            <a:r>
              <a:rPr lang="en-IN" sz="2200">
                <a:solidFill>
                  <a:srgbClr val="263543"/>
                </a:solidFill>
              </a:rPr>
              <a:t>Collect repeated readings; test multiple samples, distance, angle and ambient-light effects.</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rPr lang="en-IN" sz="2200"/>
              <a:t>•</a:t>
            </a:r>
            <a:r>
              <a:rPr b="1" lang="en-IN" sz="2200">
                <a:solidFill>
                  <a:srgbClr val="263543"/>
                </a:solidFill>
              </a:rPr>
              <a:t>Weeks 11–12 | Analysis: </a:t>
            </a:r>
            <a:r>
              <a:rPr lang="en-IN" sz="2200">
                <a:solidFill>
                  <a:srgbClr val="263543"/>
                </a:solidFill>
              </a:rPr>
              <a:t>Calculate repeatability and sample separation; document failure cases and revise thresholds if justified by the data.</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rPr lang="en-IN" sz="2200"/>
              <a:t>•</a:t>
            </a:r>
            <a:r>
              <a:rPr b="1" lang="en-IN" sz="2200">
                <a:solidFill>
                  <a:srgbClr val="263543"/>
                </a:solidFill>
              </a:rPr>
              <a:t>Week 13 | Final review: </a:t>
            </a:r>
            <a:r>
              <a:rPr lang="en-IN" sz="2200">
                <a:solidFill>
                  <a:srgbClr val="263543"/>
                </a:solidFill>
              </a:rPr>
              <a:t>Prepare final demonstration, report, presentation and recommendations for future work.</a:t>
            </a:r>
            <a:endParaRPr sz="2200">
              <a:solidFill>
                <a:srgbClr val="263543"/>
              </a:solidFill>
            </a:endParaRPr>
          </a:p>
          <a:p>
            <a:pPr indent="0" lvl="0" marL="12700" rtl="0" algn="l">
              <a:lnSpc>
                <a:spcPct val="100000"/>
              </a:lnSpc>
              <a:spcBef>
                <a:spcPts val="500"/>
              </a:spcBef>
              <a:spcAft>
                <a:spcPts val="0"/>
              </a:spcAft>
              <a:buClr>
                <a:schemeClr val="dk1"/>
              </a:buClr>
              <a:buSzPts val="1100"/>
              <a:buFont typeface="Arial"/>
              <a:buNone/>
            </a:pPr>
            <a:r>
              <a:t/>
            </a:r>
            <a:endParaRPr sz="2200">
              <a:solidFill>
                <a:srgbClr val="263543"/>
              </a:solidFill>
            </a:endParaRPr>
          </a:p>
          <a:p>
            <a:pPr indent="0" lvl="0" marL="457200" rtl="0" algn="l">
              <a:lnSpc>
                <a:spcPct val="100000"/>
              </a:lnSpc>
              <a:spcBef>
                <a:spcPts val="500"/>
              </a:spcBef>
              <a:spcAft>
                <a:spcPts val="500"/>
              </a:spcAft>
              <a:buNone/>
            </a:pPr>
            <a:r>
              <a:t/>
            </a:r>
            <a:endParaRPr b="1" sz="2200"/>
          </a:p>
        </p:txBody>
      </p:sp>
      <p:sp>
        <p:nvSpPr>
          <p:cNvPr id="237" name="Google Shape;237;p12"/>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38" name="Google Shape;238;p12"/>
          <p:cNvSpPr txBox="1"/>
          <p:nvPr/>
        </p:nvSpPr>
        <p:spPr>
          <a:xfrm>
            <a:off x="2284362" y="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IN" sz="4000">
                <a:solidFill>
                  <a:srgbClr val="C00000"/>
                </a:solidFill>
                <a:latin typeface="Bookman Old Style"/>
                <a:ea typeface="Bookman Old Style"/>
                <a:cs typeface="Bookman Old Style"/>
                <a:sym typeface="Bookman Old Style"/>
              </a:rPr>
              <a:t>Time Line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h50ca23903e8f00da_2_10"/>
          <p:cNvSpPr txBox="1"/>
          <p:nvPr>
            <p:ph idx="1" type="body"/>
          </p:nvPr>
        </p:nvSpPr>
        <p:spPr>
          <a:xfrm>
            <a:off x="276000" y="989250"/>
            <a:ext cx="11640000" cy="51801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IN" sz="2100">
                <a:solidFill>
                  <a:schemeClr val="dk1"/>
                </a:solidFill>
              </a:rPr>
              <a:t>   Expected results:</a:t>
            </a:r>
            <a:endParaRPr b="1" sz="21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IN" sz="1900">
                <a:solidFill>
                  <a:schemeClr val="dk1"/>
                </a:solidFill>
              </a:rPr>
              <a:t>- A working prototype: a CQD-tagged product plus a UV scanner (UV LED + RGB sensor + ESP32) that gives an instant MATCH / NO MATCH verdict on the OLED.</a:t>
            </a:r>
            <a:endParaRPr sz="19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IN" sz="1900">
                <a:solidFill>
                  <a:schemeClr val="dk1"/>
                </a:solidFill>
              </a:rPr>
              <a:t>- A dataset of tag readings with a performance report.</a:t>
            </a:r>
            <a:endParaRPr sz="1900">
              <a:solidFill>
                <a:schemeClr val="dk1"/>
              </a:solidFill>
            </a:endParaRPr>
          </a:p>
          <a:p>
            <a:pPr indent="0" lvl="0" marL="0" rtl="0" algn="l">
              <a:lnSpc>
                <a:spcPct val="100000"/>
              </a:lnSpc>
              <a:spcBef>
                <a:spcPts val="1200"/>
              </a:spcBef>
              <a:spcAft>
                <a:spcPts val="0"/>
              </a:spcAft>
              <a:buNone/>
            </a:pPr>
            <a:r>
              <a:rPr lang="en-IN" sz="1900">
                <a:solidFill>
                  <a:schemeClr val="dk1"/>
                </a:solidFill>
              </a:rPr>
              <a:t>- Genuine tags accepted, while imitation tags (ordinary fluorescent dye, printed copies) are rejected with accuracy of at least 60%</a:t>
            </a:r>
            <a:endParaRPr sz="1900">
              <a:solidFill>
                <a:schemeClr val="dk1"/>
              </a:solidFill>
            </a:endParaRPr>
          </a:p>
          <a:p>
            <a:pPr indent="0" lvl="0" marL="0" rtl="0" algn="l">
              <a:lnSpc>
                <a:spcPct val="100000"/>
              </a:lnSpc>
              <a:spcBef>
                <a:spcPts val="1200"/>
              </a:spcBef>
              <a:spcAft>
                <a:spcPts val="0"/>
              </a:spcAft>
              <a:buNone/>
            </a:pPr>
            <a:r>
              <a:rPr b="1" lang="en-IN" sz="2100">
                <a:solidFill>
                  <a:schemeClr val="dk1"/>
                </a:solidFill>
              </a:rPr>
              <a:t>   Potential Impact on the Field : </a:t>
            </a:r>
            <a:endParaRPr b="1" sz="2100">
              <a:solidFill>
                <a:schemeClr val="dk1"/>
              </a:solidFill>
            </a:endParaRPr>
          </a:p>
          <a:p>
            <a:pPr indent="0" lvl="0" marL="0" rtl="0" algn="l">
              <a:lnSpc>
                <a:spcPct val="100000"/>
              </a:lnSpc>
              <a:spcBef>
                <a:spcPts val="1200"/>
              </a:spcBef>
              <a:spcAft>
                <a:spcPts val="0"/>
              </a:spcAft>
              <a:buNone/>
            </a:pPr>
            <a:r>
              <a:rPr lang="en-IN" sz="1900">
                <a:solidFill>
                  <a:schemeClr val="dk1"/>
                </a:solidFill>
              </a:rPr>
              <a:t>-Harder to fake than QR codes/ bar codes</a:t>
            </a:r>
            <a:endParaRPr sz="1900">
              <a:solidFill>
                <a:schemeClr val="dk1"/>
              </a:solidFill>
            </a:endParaRPr>
          </a:p>
          <a:p>
            <a:pPr indent="0" lvl="0" marL="0" rtl="0" algn="l">
              <a:lnSpc>
                <a:spcPct val="100000"/>
              </a:lnSpc>
              <a:spcBef>
                <a:spcPts val="1200"/>
              </a:spcBef>
              <a:spcAft>
                <a:spcPts val="0"/>
              </a:spcAft>
              <a:buNone/>
            </a:pPr>
            <a:r>
              <a:rPr lang="en-IN" sz="1900">
                <a:solidFill>
                  <a:schemeClr val="dk1"/>
                </a:solidFill>
              </a:rPr>
              <a:t>-low cost </a:t>
            </a:r>
            <a:endParaRPr sz="19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IN" sz="1900">
                <a:solidFill>
                  <a:schemeClr val="dk1"/>
                </a:solidFill>
              </a:rPr>
              <a:t>-practical for supply </a:t>
            </a:r>
            <a:r>
              <a:rPr lang="en-IN" sz="1900">
                <a:solidFill>
                  <a:schemeClr val="dk1"/>
                </a:solidFill>
              </a:rPr>
              <a:t>chain and IoT ready</a:t>
            </a:r>
            <a:endParaRPr sz="1900">
              <a:solidFill>
                <a:schemeClr val="dk1"/>
              </a:solidFill>
            </a:endParaRPr>
          </a:p>
          <a:p>
            <a:pPr indent="0" lvl="0" marL="0" rtl="0" algn="l">
              <a:lnSpc>
                <a:spcPct val="100000"/>
              </a:lnSpc>
              <a:spcBef>
                <a:spcPts val="1200"/>
              </a:spcBef>
              <a:spcAft>
                <a:spcPts val="0"/>
              </a:spcAft>
              <a:buNone/>
            </a:pPr>
            <a:r>
              <a:rPr b="1" lang="en-IN" sz="2100">
                <a:solidFill>
                  <a:schemeClr val="dk1"/>
                </a:solidFill>
              </a:rPr>
              <a:t>    </a:t>
            </a:r>
            <a:r>
              <a:rPr b="1" lang="en-IN" sz="2100">
                <a:solidFill>
                  <a:schemeClr val="dk1"/>
                </a:solidFill>
              </a:rPr>
              <a:t>Future research directions: </a:t>
            </a:r>
            <a:endParaRPr b="1" sz="2100">
              <a:solidFill>
                <a:schemeClr val="dk1"/>
              </a:solidFill>
            </a:endParaRPr>
          </a:p>
          <a:p>
            <a:pPr indent="0" lvl="0" marL="0" rtl="0" algn="l">
              <a:lnSpc>
                <a:spcPct val="100000"/>
              </a:lnSpc>
              <a:spcBef>
                <a:spcPts val="1200"/>
              </a:spcBef>
              <a:spcAft>
                <a:spcPts val="0"/>
              </a:spcAft>
              <a:buNone/>
            </a:pPr>
            <a:r>
              <a:rPr lang="en-IN" sz="1900">
                <a:solidFill>
                  <a:srgbClr val="262626"/>
                </a:solidFill>
              </a:rPr>
              <a:t>Anti-copying measures, database security, addition of PUF need  future research/work .     </a:t>
            </a:r>
            <a:r>
              <a:rPr lang="en-IN" sz="2100">
                <a:solidFill>
                  <a:srgbClr val="262626"/>
                </a:solidFill>
              </a:rPr>
              <a:t>                                 </a:t>
            </a:r>
            <a:endParaRPr b="1" sz="1500">
              <a:solidFill>
                <a:schemeClr val="dk1"/>
              </a:solidFill>
            </a:endParaRPr>
          </a:p>
          <a:p>
            <a:pPr indent="0" lvl="0" marL="0" rtl="0" algn="l">
              <a:lnSpc>
                <a:spcPct val="115000"/>
              </a:lnSpc>
              <a:spcBef>
                <a:spcPts val="1200"/>
              </a:spcBef>
              <a:spcAft>
                <a:spcPts val="1200"/>
              </a:spcAft>
              <a:buNone/>
            </a:pPr>
            <a:r>
              <a:t/>
            </a:r>
            <a:endParaRPr sz="2100"/>
          </a:p>
        </p:txBody>
      </p:sp>
      <p:sp>
        <p:nvSpPr>
          <p:cNvPr id="244" name="Google Shape;244;h50ca23903e8f00da_2_10"/>
          <p:cNvSpPr txBox="1"/>
          <p:nvPr>
            <p:ph idx="12" type="sldNum"/>
          </p:nvPr>
        </p:nvSpPr>
        <p:spPr>
          <a:xfrm>
            <a:off x="9273988" y="634720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45" name="Google Shape;245;h50ca23903e8f00da_2_10"/>
          <p:cNvSpPr txBox="1"/>
          <p:nvPr/>
        </p:nvSpPr>
        <p:spPr>
          <a:xfrm>
            <a:off x="2262712" y="0"/>
            <a:ext cx="8146500" cy="839400"/>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Proposed </a:t>
            </a:r>
            <a:r>
              <a:rPr b="1" lang="en-IN" sz="4000">
                <a:solidFill>
                  <a:srgbClr val="C00000"/>
                </a:solidFill>
                <a:latin typeface="Bookman Old Style"/>
                <a:ea typeface="Bookman Old Style"/>
                <a:cs typeface="Bookman Old Style"/>
                <a:sym typeface="Bookman Old Style"/>
              </a:rPr>
              <a:t>Outcome</a:t>
            </a:r>
            <a:r>
              <a:rPr b="1" lang="en-IN" sz="4000">
                <a:solidFill>
                  <a:srgbClr val="C00000"/>
                </a:solidFill>
                <a:latin typeface="Bookman Old Style"/>
                <a:ea typeface="Bookman Old Style"/>
                <a:cs typeface="Bookman Old Style"/>
                <a:sym typeface="Bookman Old Style"/>
              </a:rPr>
              <a: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4"/>
          <p:cNvSpPr txBox="1"/>
          <p:nvPr>
            <p:ph idx="1" type="body"/>
          </p:nvPr>
        </p:nvSpPr>
        <p:spPr>
          <a:xfrm>
            <a:off x="276000" y="1398725"/>
            <a:ext cx="11640000" cy="39411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2060"/>
              </a:buClr>
              <a:buSzPts val="2000"/>
              <a:buFont typeface="Arial"/>
              <a:buChar char="•"/>
            </a:pPr>
            <a:r>
              <a:rPr b="1" lang="en-IN" sz="2200"/>
              <a:t>   </a:t>
            </a:r>
            <a:r>
              <a:rPr b="1" lang="en-IN" sz="2200">
                <a:solidFill>
                  <a:srgbClr val="002060"/>
                </a:solidFill>
                <a:latin typeface="Bookman Old Style"/>
                <a:ea typeface="Bookman Old Style"/>
                <a:cs typeface="Bookman Old Style"/>
                <a:sym typeface="Bookman Old Style"/>
              </a:rPr>
              <a:t>Summary</a:t>
            </a:r>
            <a:r>
              <a:rPr b="1" lang="en-IN" sz="2200"/>
              <a:t>:- </a:t>
            </a:r>
            <a:endParaRPr b="1" sz="2200"/>
          </a:p>
          <a:p>
            <a:pPr indent="0" lvl="0" marL="457200" rtl="0" algn="l">
              <a:spcBef>
                <a:spcPts val="0"/>
              </a:spcBef>
              <a:spcAft>
                <a:spcPts val="0"/>
              </a:spcAft>
              <a:buNone/>
            </a:pPr>
            <a:r>
              <a:rPr lang="en-IN" sz="2000">
                <a:solidFill>
                  <a:schemeClr val="dk1"/>
                </a:solidFill>
              </a:rPr>
              <a:t>- Counterfeits can be cloned or re-stuck because barcodes, QR codes, RFID tags and holograms are copyable.</a:t>
            </a:r>
            <a:endParaRPr sz="2000">
              <a:solidFill>
                <a:schemeClr val="dk1"/>
              </a:solidFill>
            </a:endParaRPr>
          </a:p>
          <a:p>
            <a:pPr indent="0" lvl="0" marL="457200" rtl="0" algn="l">
              <a:spcBef>
                <a:spcPts val="0"/>
              </a:spcBef>
              <a:spcAft>
                <a:spcPts val="0"/>
              </a:spcAft>
              <a:buNone/>
            </a:pPr>
            <a:r>
              <a:rPr lang="en-IN" sz="2000">
                <a:solidFill>
                  <a:schemeClr val="dk1"/>
                </a:solidFill>
              </a:rPr>
              <a:t>- The QD-based authenticator tackles this with a carbon quantum dot tag that has a measurable optical fingerprint.</a:t>
            </a:r>
            <a:endParaRPr sz="2000">
              <a:solidFill>
                <a:schemeClr val="dk1"/>
              </a:solidFill>
            </a:endParaRPr>
          </a:p>
          <a:p>
            <a:pPr indent="0" lvl="0" marL="457200" rtl="0" algn="l">
              <a:spcBef>
                <a:spcPts val="0"/>
              </a:spcBef>
              <a:spcAft>
                <a:spcPts val="0"/>
              </a:spcAft>
              <a:buNone/>
            </a:pPr>
            <a:r>
              <a:rPr lang="en-IN" sz="2000">
                <a:solidFill>
                  <a:schemeClr val="dk1"/>
                </a:solidFill>
              </a:rPr>
              <a:t>- A low-cost UV LED + RGB sensor + ESP32 reader compares each scan with a stored profile and shows MATCH / NO MATCH.</a:t>
            </a:r>
            <a:endParaRPr sz="2000">
              <a:solidFill>
                <a:schemeClr val="dk1"/>
              </a:solidFill>
            </a:endParaRPr>
          </a:p>
          <a:p>
            <a:pPr indent="0" lvl="0" marL="457200" rtl="0" algn="l">
              <a:spcBef>
                <a:spcPts val="0"/>
              </a:spcBef>
              <a:spcAft>
                <a:spcPts val="0"/>
              </a:spcAft>
              <a:buNone/>
            </a:pPr>
            <a:r>
              <a:t/>
            </a:r>
            <a:endParaRPr sz="2000">
              <a:solidFill>
                <a:schemeClr val="dk1"/>
              </a:solidFill>
            </a:endParaRPr>
          </a:p>
          <a:p>
            <a:pPr indent="-368300" lvl="0" marL="457200" rtl="0" algn="l">
              <a:spcBef>
                <a:spcPts val="0"/>
              </a:spcBef>
              <a:spcAft>
                <a:spcPts val="0"/>
              </a:spcAft>
              <a:buSzPts val="2200"/>
              <a:buFont typeface="Bookman Old Style"/>
              <a:buChar char="•"/>
            </a:pPr>
            <a:r>
              <a:rPr b="1" lang="en-IN" sz="2200">
                <a:solidFill>
                  <a:srgbClr val="002060"/>
                </a:solidFill>
                <a:latin typeface="Bookman Old Style"/>
                <a:ea typeface="Bookman Old Style"/>
                <a:cs typeface="Bookman Old Style"/>
                <a:sym typeface="Bookman Old Style"/>
              </a:rPr>
              <a:t>Final thoughts: </a:t>
            </a:r>
            <a:endParaRPr b="1" sz="2200">
              <a:solidFill>
                <a:srgbClr val="002060"/>
              </a:solidFill>
              <a:latin typeface="Bookman Old Style"/>
              <a:ea typeface="Bookman Old Style"/>
              <a:cs typeface="Bookman Old Style"/>
              <a:sym typeface="Bookman Old Style"/>
            </a:endParaRPr>
          </a:p>
          <a:p>
            <a:pPr indent="0" lvl="0" marL="457200" rtl="0" algn="l">
              <a:spcBef>
                <a:spcPts val="0"/>
              </a:spcBef>
              <a:spcAft>
                <a:spcPts val="0"/>
              </a:spcAft>
              <a:buNone/>
            </a:pPr>
            <a:r>
              <a:rPr lang="en-IN" sz="2200">
                <a:solidFill>
                  <a:srgbClr val="262626"/>
                </a:solidFill>
              </a:rPr>
              <a:t>Aim: show that affordable optical sensing can support a useful physical-digital tag identity.</a:t>
            </a:r>
            <a:endParaRPr sz="2200">
              <a:solidFill>
                <a:srgbClr val="262626"/>
              </a:solidFill>
            </a:endParaRPr>
          </a:p>
          <a:p>
            <a:pPr indent="0" lvl="0" marL="457200" rtl="0" algn="l">
              <a:spcBef>
                <a:spcPts val="0"/>
              </a:spcBef>
              <a:spcAft>
                <a:spcPts val="0"/>
              </a:spcAft>
              <a:buNone/>
            </a:pPr>
            <a:r>
              <a:rPr lang="en-IN" sz="2200">
                <a:solidFill>
                  <a:srgbClr val="262626"/>
                </a:solidFill>
                <a:latin typeface="Bookman Old Style"/>
                <a:ea typeface="Bookman Old Style"/>
                <a:cs typeface="Bookman Old Style"/>
                <a:sym typeface="Bookman Old Style"/>
              </a:rPr>
              <a:t>Limits: RGB sensing is not spectroscopy, responses may vary with conditions, and a match alone cannot prove product genuineness.</a:t>
            </a:r>
            <a:endParaRPr sz="2200">
              <a:solidFill>
                <a:srgbClr val="262626"/>
              </a:solidFill>
              <a:latin typeface="Bookman Old Style"/>
              <a:ea typeface="Bookman Old Style"/>
              <a:cs typeface="Bookman Old Style"/>
              <a:sym typeface="Bookman Old Style"/>
            </a:endParaRPr>
          </a:p>
          <a:p>
            <a:pPr indent="0" lvl="0" marL="457200" rtl="0" algn="l">
              <a:spcBef>
                <a:spcPts val="0"/>
              </a:spcBef>
              <a:spcAft>
                <a:spcPts val="0"/>
              </a:spcAft>
              <a:buNone/>
            </a:pPr>
            <a:r>
              <a:t/>
            </a:r>
            <a:endParaRPr sz="2200">
              <a:solidFill>
                <a:srgbClr val="262626"/>
              </a:solidFill>
            </a:endParaRPr>
          </a:p>
          <a:p>
            <a:pPr indent="-228600" lvl="0" marL="228600" rtl="0" algn="l">
              <a:lnSpc>
                <a:spcPct val="90000"/>
              </a:lnSpc>
              <a:spcBef>
                <a:spcPts val="1400"/>
              </a:spcBef>
              <a:spcAft>
                <a:spcPts val="0"/>
              </a:spcAft>
              <a:buClr>
                <a:srgbClr val="002060"/>
              </a:buClr>
              <a:buSzPts val="2000"/>
              <a:buFont typeface="Arial"/>
              <a:buChar char="•"/>
            </a:pPr>
            <a:r>
              <a:rPr b="1" lang="en-IN" sz="2200"/>
              <a:t>  </a:t>
            </a:r>
            <a:r>
              <a:rPr b="1" lang="en-IN" sz="2200">
                <a:solidFill>
                  <a:srgbClr val="002060"/>
                </a:solidFill>
                <a:latin typeface="Bookman Old Style"/>
                <a:ea typeface="Bookman Old Style"/>
                <a:cs typeface="Bookman Old Style"/>
                <a:sym typeface="Bookman Old Style"/>
              </a:rPr>
              <a:t>Next steps: </a:t>
            </a:r>
            <a:r>
              <a:rPr lang="en-IN" sz="2200">
                <a:solidFill>
                  <a:srgbClr val="262626"/>
                </a:solidFill>
              </a:rPr>
              <a:t>M</a:t>
            </a:r>
            <a:r>
              <a:rPr lang="en-IN" sz="2200">
                <a:solidFill>
                  <a:srgbClr val="262626"/>
                </a:solidFill>
                <a:latin typeface="Bookman Old Style"/>
                <a:ea typeface="Bookman Old Style"/>
                <a:cs typeface="Bookman Old Style"/>
                <a:sym typeface="Bookman Old Style"/>
              </a:rPr>
              <a:t>aterial validation → scanner build → data collection → software → evaluation. </a:t>
            </a:r>
            <a:endParaRPr/>
          </a:p>
        </p:txBody>
      </p:sp>
      <p:sp>
        <p:nvSpPr>
          <p:cNvPr id="252" name="Google Shape;252;p14"/>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53" name="Google Shape;253;p14"/>
          <p:cNvSpPr txBox="1"/>
          <p:nvPr/>
        </p:nvSpPr>
        <p:spPr>
          <a:xfrm>
            <a:off x="2284362" y="14567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5"/>
          <p:cNvSpPr txBox="1"/>
          <p:nvPr>
            <p:ph idx="1" type="body"/>
          </p:nvPr>
        </p:nvSpPr>
        <p:spPr>
          <a:xfrm>
            <a:off x="482750" y="1322200"/>
            <a:ext cx="11040000" cy="4743900"/>
          </a:xfrm>
          <a:prstGeom prst="rect">
            <a:avLst/>
          </a:prstGeom>
          <a:noFill/>
          <a:ln>
            <a:noFill/>
          </a:ln>
        </p:spPr>
        <p:txBody>
          <a:bodyPr anchorCtr="0" anchor="t" bIns="45700" lIns="91425" spcFirstLastPara="1" rIns="91425" wrap="square" tIns="45700">
            <a:noAutofit/>
          </a:bodyPr>
          <a:lstStyle/>
          <a:p>
            <a:pPr indent="-368300" lvl="0" marL="457200" rtl="0" algn="l">
              <a:lnSpc>
                <a:spcPct val="115000"/>
              </a:lnSpc>
              <a:spcBef>
                <a:spcPts val="0"/>
              </a:spcBef>
              <a:spcAft>
                <a:spcPts val="0"/>
              </a:spcAft>
              <a:buSzPts val="2200"/>
              <a:buChar char="•"/>
            </a:pPr>
            <a:r>
              <a:rPr lang="en-IN" sz="2200" u="sng">
                <a:solidFill>
                  <a:schemeClr val="hlink"/>
                </a:solidFill>
                <a:hlinkClick r:id="rId3"/>
              </a:rPr>
              <a:t>https://pubs.rsc.org/nr/article-abstract/17/36/20865/901807/Advances-in-semiconductor-quantum-dot-based</a:t>
            </a:r>
            <a:endParaRPr sz="2200">
              <a:solidFill>
                <a:srgbClr val="262626"/>
              </a:solidFill>
            </a:endParaRPr>
          </a:p>
          <a:p>
            <a:pPr indent="-406400" lvl="0" marL="457200" rtl="0" algn="l">
              <a:lnSpc>
                <a:spcPct val="115000"/>
              </a:lnSpc>
              <a:spcBef>
                <a:spcPts val="0"/>
              </a:spcBef>
              <a:spcAft>
                <a:spcPts val="0"/>
              </a:spcAft>
              <a:buSzPts val="2800"/>
              <a:buChar char="•"/>
            </a:pPr>
            <a:r>
              <a:rPr lang="en-IN"/>
              <a:t> </a:t>
            </a:r>
            <a:r>
              <a:rPr lang="en-IN" sz="2200" u="sng">
                <a:solidFill>
                  <a:schemeClr val="hlink"/>
                </a:solidFill>
                <a:hlinkClick r:id="rId4"/>
              </a:rPr>
              <a:t>https://pmc.ncbi.nlm.nih.gov/articles/PMC13122586/</a:t>
            </a:r>
            <a:endParaRPr sz="2200">
              <a:solidFill>
                <a:srgbClr val="262626"/>
              </a:solidFill>
            </a:endParaRPr>
          </a:p>
          <a:p>
            <a:pPr indent="-368300" lvl="0" marL="457200" rtl="0" algn="l">
              <a:lnSpc>
                <a:spcPct val="115000"/>
              </a:lnSpc>
              <a:spcBef>
                <a:spcPts val="0"/>
              </a:spcBef>
              <a:spcAft>
                <a:spcPts val="0"/>
              </a:spcAft>
              <a:buSzPts val="2200"/>
              <a:buChar char="•"/>
            </a:pPr>
            <a:r>
              <a:rPr lang="en-IN" sz="2200" u="sng">
                <a:solidFill>
                  <a:schemeClr val="hlink"/>
                </a:solidFill>
                <a:hlinkClick r:id="rId5"/>
              </a:rPr>
              <a:t>https://ieeexplore.ieee.org/abstract/document/10915375</a:t>
            </a:r>
            <a:endParaRPr sz="2200">
              <a:solidFill>
                <a:srgbClr val="262626"/>
              </a:solidFill>
            </a:endParaRPr>
          </a:p>
          <a:p>
            <a:pPr indent="-368300" lvl="0" marL="457200" rtl="0" algn="l">
              <a:lnSpc>
                <a:spcPct val="115000"/>
              </a:lnSpc>
              <a:spcBef>
                <a:spcPts val="0"/>
              </a:spcBef>
              <a:spcAft>
                <a:spcPts val="0"/>
              </a:spcAft>
              <a:buClr>
                <a:srgbClr val="262626"/>
              </a:buClr>
              <a:buSzPts val="2200"/>
              <a:buChar char="•"/>
            </a:pPr>
            <a:r>
              <a:rPr lang="en-IN" sz="2200">
                <a:solidFill>
                  <a:srgbClr val="000000"/>
                </a:solidFill>
                <a:latin typeface="Arial"/>
                <a:ea typeface="Arial"/>
                <a:cs typeface="Arial"/>
                <a:sym typeface="Arial"/>
              </a:rPr>
              <a:t>Highly bright carbon quantum dots for flexible anti-counterfeiting.</a:t>
            </a:r>
            <a:endParaRPr sz="22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rPr lang="en-IN" sz="2200">
                <a:solidFill>
                  <a:srgbClr val="000000"/>
                </a:solidFill>
                <a:latin typeface="Arial"/>
                <a:ea typeface="Arial"/>
                <a:cs typeface="Arial"/>
                <a:sym typeface="Arial"/>
              </a:rPr>
              <a:t>Journal: Journal of Materials Chemistry C </a:t>
            </a:r>
            <a:r>
              <a:rPr lang="en-IN" sz="2200" u="sng">
                <a:solidFill>
                  <a:schemeClr val="hlink"/>
                </a:solidFill>
                <a:latin typeface="Arial"/>
                <a:ea typeface="Arial"/>
                <a:cs typeface="Arial"/>
                <a:sym typeface="Arial"/>
                <a:hlinkClick r:id="rId6"/>
              </a:rPr>
              <a:t>Read on ResearchGate</a:t>
            </a:r>
            <a:endParaRPr sz="2200">
              <a:solidFill>
                <a:srgbClr val="262626"/>
              </a:solidFill>
            </a:endParaRPr>
          </a:p>
          <a:p>
            <a:pPr indent="0" lvl="0" marL="457200" rtl="0" algn="l">
              <a:spcBef>
                <a:spcPts val="1600"/>
              </a:spcBef>
              <a:spcAft>
                <a:spcPts val="0"/>
              </a:spcAft>
              <a:buNone/>
            </a:pPr>
            <a:r>
              <a:t/>
            </a:r>
            <a:endParaRPr sz="2200">
              <a:solidFill>
                <a:srgbClr val="262626"/>
              </a:solidFill>
            </a:endParaRPr>
          </a:p>
          <a:p>
            <a:pPr indent="0" lvl="0" marL="914400" rtl="0" algn="l">
              <a:spcBef>
                <a:spcPts val="1600"/>
              </a:spcBef>
              <a:spcAft>
                <a:spcPts val="0"/>
              </a:spcAft>
              <a:buNone/>
            </a:pPr>
            <a:r>
              <a:t/>
            </a:r>
            <a:endParaRPr sz="2200">
              <a:solidFill>
                <a:srgbClr val="262626"/>
              </a:solidFill>
            </a:endParaRPr>
          </a:p>
        </p:txBody>
      </p:sp>
      <p:sp>
        <p:nvSpPr>
          <p:cNvPr id="260" name="Google Shape;260;p15"/>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61" name="Google Shape;261;p15"/>
          <p:cNvSpPr txBox="1"/>
          <p:nvPr/>
        </p:nvSpPr>
        <p:spPr>
          <a:xfrm>
            <a:off x="2284362" y="14567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6"/>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67" name="Google Shape;267;p16"/>
          <p:cNvPicPr preferRelativeResize="0"/>
          <p:nvPr/>
        </p:nvPicPr>
        <p:blipFill rotWithShape="1">
          <a:blip r:embed="rId3">
            <a:alphaModFix/>
          </a:blip>
          <a:srcRect b="0" l="0" r="0" t="0"/>
          <a:stretch/>
        </p:blipFill>
        <p:spPr>
          <a:xfrm>
            <a:off x="2571771" y="1760902"/>
            <a:ext cx="5889813" cy="3646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2021-06-02T02:10:21Z</dcterms:created>
  <dc:creator>Dr. Shanmukha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0e6889c6c8fe401c86f618e1e6d7e8dc_23</vt:lpwstr>
  </property>
</Properties>
</file>